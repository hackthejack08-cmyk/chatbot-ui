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at-sunset-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788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9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Cambria"/>
              </a:defRPr>
            </a:pPr>
            <a:r>
              <a:t>BYTE-BOT AI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64592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2E1F5"/>
                </a:solidFill>
                <a:latin typeface="Calibri"/>
              </a:defRPr>
            </a:pPr>
            <a:r>
              <a:t>Project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576072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5303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09224A"/>
                </a:solidFill>
                <a:latin typeface="Cambria"/>
              </a:defRPr>
            </a:pPr>
            <a:r>
              <a:t>Byte-Bot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57400"/>
            <a:ext cx="5303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A3C"/>
                </a:solidFill>
                <a:latin typeface="Calibri"/>
              </a:defRPr>
            </a:pPr>
            <a:r>
              <a:t>A Pixel-Style AI Chatbot With Backend Memory, Tools, Voice Roadmap And Deployment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61488"/>
            <a:ext cx="5394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A3C"/>
                </a:solidFill>
                <a:latin typeface="Calibri"/>
              </a:defRPr>
            </a:pPr>
            <a:r>
              <a:t>Submitted By: Harsh Tiwari</a:t>
            </a:r>
          </a:p>
          <a:p>
            <a:pPr>
              <a:defRPr sz="1200">
                <a:solidFill>
                  <a:srgbClr val="1E2A3C"/>
                </a:solidFill>
                <a:latin typeface="Calibri"/>
              </a:defRPr>
            </a:pPr>
            <a:r>
              <a:t>Guided By: Faculty / Department</a:t>
            </a:r>
          </a:p>
          <a:p>
            <a:pPr>
              <a:defRPr sz="1200">
                <a:solidFill>
                  <a:srgbClr val="1E2A3C"/>
                </a:solidFill>
                <a:latin typeface="Calibri"/>
              </a:defRPr>
            </a:pPr>
            <a:r>
              <a:t>Stack: HTML, CSS, JavaScript, FastAPI, LangChain, Groq, MongoDB</a:t>
            </a:r>
          </a:p>
        </p:txBody>
      </p:sp>
      <p:pic>
        <p:nvPicPr>
          <p:cNvPr id="11" name="Picture 10" descr="landing-mas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337560"/>
            <a:ext cx="1965960" cy="19659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9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6556248"/>
            <a:ext cx="5806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BF5FF"/>
                </a:solidFill>
                <a:latin typeface="Calibri"/>
              </a:defRPr>
            </a:pPr>
            <a:r>
              <a:t>Byte-Bot AI Chatbot Project | Frontend + FastAPI + LangChain + MongoDB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9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Cambria"/>
              </a:defRPr>
            </a:pPr>
            <a:r>
              <a:t>TABLE OF CONTENT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9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6556248"/>
            <a:ext cx="5806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BF5FF"/>
                </a:solidFill>
                <a:latin typeface="Calibri"/>
              </a:defRPr>
            </a:pPr>
            <a:r>
              <a:t>Byte-Bot AI Chatbot Project | Frontend + FastAPI + LangChain + MongoDB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143000"/>
            <a:ext cx="329184" cy="329184"/>
          </a:xfrm>
          <a:prstGeom prst="ellipse">
            <a:avLst/>
          </a:prstGeom>
          <a:solidFill>
            <a:srgbClr val="FFC61C"/>
          </a:solidFill>
          <a:ln>
            <a:solidFill>
              <a:srgbClr val="092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/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133856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A3C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1856232"/>
            <a:ext cx="329184" cy="329184"/>
          </a:xfrm>
          <a:prstGeom prst="ellipse">
            <a:avLst/>
          </a:prstGeom>
          <a:solidFill>
            <a:srgbClr val="FFC61C"/>
          </a:solidFill>
          <a:ln>
            <a:solidFill>
              <a:srgbClr val="092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/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847088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A3C"/>
                </a:solidFill>
                <a:latin typeface="Calibri"/>
              </a:defRPr>
            </a:pPr>
            <a:r>
              <a:t>Current Gap and Vision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569464"/>
            <a:ext cx="329184" cy="329184"/>
          </a:xfrm>
          <a:prstGeom prst="ellipse">
            <a:avLst/>
          </a:prstGeom>
          <a:solidFill>
            <a:srgbClr val="FFC61C"/>
          </a:solidFill>
          <a:ln>
            <a:solidFill>
              <a:srgbClr val="092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/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5603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A3C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282696"/>
            <a:ext cx="329184" cy="329184"/>
          </a:xfrm>
          <a:prstGeom prst="ellipse">
            <a:avLst/>
          </a:prstGeom>
          <a:solidFill>
            <a:srgbClr val="FFC61C"/>
          </a:solidFill>
          <a:ln>
            <a:solidFill>
              <a:srgbClr val="092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/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3273552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A3C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995928"/>
            <a:ext cx="329184" cy="329184"/>
          </a:xfrm>
          <a:prstGeom prst="ellipse">
            <a:avLst/>
          </a:prstGeom>
          <a:solidFill>
            <a:srgbClr val="FFC61C"/>
          </a:solidFill>
          <a:ln>
            <a:solidFill>
              <a:srgbClr val="092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/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986784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A3C"/>
                </a:solidFill>
                <a:latin typeface="Calibri"/>
              </a:defRPr>
            </a:pPr>
            <a:r>
              <a:t>Solution / Proposed System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709160"/>
            <a:ext cx="329184" cy="329184"/>
          </a:xfrm>
          <a:prstGeom prst="ellipse">
            <a:avLst/>
          </a:prstGeom>
          <a:solidFill>
            <a:srgbClr val="FFC61C"/>
          </a:solidFill>
          <a:ln>
            <a:solidFill>
              <a:srgbClr val="092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/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4700016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A3C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1143000"/>
            <a:ext cx="329184" cy="329184"/>
          </a:xfrm>
          <a:prstGeom prst="ellipse">
            <a:avLst/>
          </a:prstGeom>
          <a:solidFill>
            <a:srgbClr val="FFC61C"/>
          </a:solidFill>
          <a:ln>
            <a:solidFill>
              <a:srgbClr val="092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/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133856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A3C"/>
                </a:solidFill>
                <a:latin typeface="Calibri"/>
              </a:defRPr>
            </a:pPr>
            <a:r>
              <a:t>Technologies Used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1856232"/>
            <a:ext cx="329184" cy="329184"/>
          </a:xfrm>
          <a:prstGeom prst="ellipse">
            <a:avLst/>
          </a:prstGeom>
          <a:solidFill>
            <a:srgbClr val="FFC61C"/>
          </a:solidFill>
          <a:ln>
            <a:solidFill>
              <a:srgbClr val="092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/>
            </a:pPr>
            <a: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1847088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A3C"/>
                </a:solidFill>
                <a:latin typeface="Calibri"/>
              </a:defRPr>
            </a:pPr>
            <a:r>
              <a:t>Features / Modules</a:t>
            </a:r>
          </a:p>
        </p:txBody>
      </p:sp>
      <p:sp>
        <p:nvSpPr>
          <p:cNvPr id="23" name="Oval 22"/>
          <p:cNvSpPr/>
          <p:nvPr/>
        </p:nvSpPr>
        <p:spPr>
          <a:xfrm>
            <a:off x="6309360" y="2569464"/>
            <a:ext cx="329184" cy="329184"/>
          </a:xfrm>
          <a:prstGeom prst="ellipse">
            <a:avLst/>
          </a:prstGeom>
          <a:solidFill>
            <a:srgbClr val="FFC61C"/>
          </a:solidFill>
          <a:ln>
            <a:solidFill>
              <a:srgbClr val="092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/>
            </a:pPr>
            <a: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25603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A3C"/>
                </a:solidFill>
                <a:latin typeface="Calibri"/>
              </a:defRPr>
            </a:pPr>
            <a:r>
              <a:t>Frontend and Backend Workflow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0" y="3282696"/>
            <a:ext cx="329184" cy="329184"/>
          </a:xfrm>
          <a:prstGeom prst="ellipse">
            <a:avLst/>
          </a:prstGeom>
          <a:solidFill>
            <a:srgbClr val="FFC61C"/>
          </a:solidFill>
          <a:ln>
            <a:solidFill>
              <a:srgbClr val="092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/>
            </a:pPr>
            <a: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3273552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A3C"/>
                </a:solidFill>
                <a:latin typeface="Calibri"/>
              </a:defRPr>
            </a:pPr>
            <a:r>
              <a:t>Integration and Deployment</a:t>
            </a:r>
          </a:p>
        </p:txBody>
      </p:sp>
      <p:sp>
        <p:nvSpPr>
          <p:cNvPr id="27" name="Oval 26"/>
          <p:cNvSpPr/>
          <p:nvPr/>
        </p:nvSpPr>
        <p:spPr>
          <a:xfrm>
            <a:off x="6309360" y="3995928"/>
            <a:ext cx="329184" cy="329184"/>
          </a:xfrm>
          <a:prstGeom prst="ellipse">
            <a:avLst/>
          </a:prstGeom>
          <a:solidFill>
            <a:srgbClr val="FFC61C"/>
          </a:solidFill>
          <a:ln>
            <a:solidFill>
              <a:srgbClr val="092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/>
            </a:pPr>
            <a: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3986784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A3C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29" name="Oval 28"/>
          <p:cNvSpPr/>
          <p:nvPr/>
        </p:nvSpPr>
        <p:spPr>
          <a:xfrm>
            <a:off x="6309360" y="4709160"/>
            <a:ext cx="329184" cy="329184"/>
          </a:xfrm>
          <a:prstGeom prst="ellipse">
            <a:avLst/>
          </a:prstGeom>
          <a:solidFill>
            <a:srgbClr val="FFC61C"/>
          </a:solidFill>
          <a:ln>
            <a:solidFill>
              <a:srgbClr val="092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/>
            </a:pPr>
            <a: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4700016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A3C"/>
                </a:solidFill>
                <a:latin typeface="Calibri"/>
              </a:defRPr>
            </a:pPr>
            <a:r>
              <a:t>Conclusion and Thank You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9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Cambria"/>
              </a:defRPr>
            </a:pPr>
            <a: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9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6556248"/>
            <a:ext cx="5806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BF5FF"/>
                </a:solidFill>
                <a:latin typeface="Calibri"/>
              </a:defRPr>
            </a:pPr>
            <a:r>
              <a:t>Byte-Bot AI Chatbot Project | Frontend + FastAPI + LangChain + MongoDB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224A"/>
                </a:solidFill>
                <a:latin typeface="Cambria"/>
              </a:defRPr>
            </a:pPr>
            <a:r>
              <a:t>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353312"/>
            <a:ext cx="6309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5494"/>
                </a:solidFill>
                <a:latin typeface="Calibri"/>
              </a:defRPr>
            </a:pPr>
            <a:r>
              <a:t>Why Byte-Bot was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5806440" cy="43891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A3C"/>
                </a:solidFill>
                <a:latin typeface="Calibri"/>
              </a:defRPr>
            </a:pPr>
            <a:r>
              <a:t>Many chatbot projects stop at a simple textbox and do not feel interactive or memorable.</a:t>
            </a:r>
          </a:p>
          <a:p>
            <a:pPr>
              <a:spcAft>
                <a:spcPts val="600"/>
              </a:spcAft>
              <a:defRPr sz="1600">
                <a:solidFill>
                  <a:srgbClr val="1E2A3C"/>
                </a:solidFill>
                <a:latin typeface="Calibri"/>
              </a:defRPr>
            </a:pPr>
            <a:r>
              <a:t>Byte-Bot began as a pixel-style frontend UI, then grew into a real AI chatbot connected to a backend.</a:t>
            </a:r>
          </a:p>
          <a:p>
            <a:pPr>
              <a:spcAft>
                <a:spcPts val="600"/>
              </a:spcAft>
              <a:defRPr sz="1600">
                <a:solidFill>
                  <a:srgbClr val="1E2A3C"/>
                </a:solidFill>
                <a:latin typeface="Calibri"/>
              </a:defRPr>
            </a:pPr>
            <a:r>
              <a:t>The goal is to make the bot useful and charming: it can chat, remember sessions, search the web, and later understand user documents.</a:t>
            </a:r>
          </a:p>
          <a:p>
            <a:pPr>
              <a:spcAft>
                <a:spcPts val="600"/>
              </a:spcAft>
              <a:defRPr sz="1600">
                <a:solidFill>
                  <a:srgbClr val="1E2A3C"/>
                </a:solidFill>
                <a:latin typeface="Calibri"/>
              </a:defRPr>
            </a:pPr>
            <a:r>
              <a:t>The project focuses on beginner-readable code, clear documentation, and deployment readiness.</a:t>
            </a:r>
          </a:p>
        </p:txBody>
      </p:sp>
      <p:pic>
        <p:nvPicPr>
          <p:cNvPr id="10" name="Picture 9" descr="landing-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920240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9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Cambria"/>
              </a:defRPr>
            </a:pPr>
            <a: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9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6556248"/>
            <a:ext cx="5806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BF5FF"/>
                </a:solidFill>
                <a:latin typeface="Calibri"/>
              </a:defRPr>
            </a:pPr>
            <a:r>
              <a:t>Byte-Bot AI Chatbot Project | Frontend + FastAPI + LangChain + MongoDB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224A"/>
                </a:solidFill>
                <a:latin typeface="Cambria"/>
              </a:defRPr>
            </a:pPr>
            <a:r>
              <a:t>Current Gap and 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074920" cy="4069080"/>
          </a:xfrm>
          <a:prstGeom prst="roundRect">
            <a:avLst/>
          </a:prstGeom>
          <a:solidFill>
            <a:srgbClr val="F2F7FF"/>
          </a:solidFill>
          <a:ln w="17780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5074920" cy="310896"/>
          </a:xfrm>
          <a:prstGeom prst="rect">
            <a:avLst/>
          </a:prstGeom>
          <a:solidFill>
            <a:srgbClr val="D2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645920"/>
            <a:ext cx="4846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mbria"/>
              </a:defRPr>
            </a:pPr>
            <a:r>
              <a:t>Current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039112"/>
            <a:ext cx="4754880" cy="353872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Frontend-only chat demos cannot answer intelligently.</a:t>
            </a:r>
          </a:p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Plain LLM wrappers forget previous messages without memory.</a:t>
            </a:r>
          </a:p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Users need search, file understanding, and voice features in one simple interface.</a:t>
            </a:r>
          </a:p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Deployment becomes hard when frontend, backend, database, and API keys are not organized.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5074920" cy="4069080"/>
          </a:xfrm>
          <a:prstGeom prst="roundRect">
            <a:avLst/>
          </a:prstGeom>
          <a:solidFill>
            <a:srgbClr val="F2F7FF"/>
          </a:solidFill>
          <a:ln w="17780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00200"/>
            <a:ext cx="5074920" cy="310896"/>
          </a:xfrm>
          <a:prstGeom prst="rect">
            <a:avLst/>
          </a:prstGeom>
          <a:solidFill>
            <a:srgbClr val="32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5" y="1645920"/>
            <a:ext cx="4846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mbria"/>
              </a:defRPr>
            </a:pPr>
            <a:r>
              <a:t>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039112"/>
            <a:ext cx="4754880" cy="353872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Build a scalable AI companion with a polished pixel UI.</a:t>
            </a:r>
          </a:p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Connect the UI to FastAPI, LangChain, Groq, MongoDB, and tool modules.</a:t>
            </a:r>
          </a:p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Support future RAG over PDFs, CSVs, text files, and images.</a:t>
            </a:r>
          </a:p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Keep the project understandable enough to explain in viva or classroom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9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Cambria"/>
              </a:defRPr>
            </a:pPr>
            <a: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9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6556248"/>
            <a:ext cx="5806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BF5FF"/>
                </a:solidFill>
                <a:latin typeface="Calibri"/>
              </a:defRPr>
            </a:pPr>
            <a:r>
              <a:t>Byte-Bot AI Chatbot Project | Frontend + FastAPI + LangChain + MongoDB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224A"/>
                </a:solidFill>
                <a:latin typeface="Cambria"/>
              </a:defRPr>
            </a:pPr>
            <a:r>
              <a:t>Main 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3520440" cy="4343400"/>
          </a:xfrm>
          <a:prstGeom prst="roundRect">
            <a:avLst/>
          </a:prstGeom>
          <a:solidFill>
            <a:srgbClr val="F2F7FF"/>
          </a:solidFill>
          <a:ln w="17780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3520440" cy="310896"/>
          </a:xfrm>
          <a:prstGeom prst="rect">
            <a:avLst/>
          </a:prstGeom>
          <a:solidFill>
            <a:srgbClr val="1E5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155448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mbria"/>
              </a:defRPr>
            </a:pPr>
            <a:r>
              <a:t>User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947672"/>
            <a:ext cx="3200400" cy="3813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Send messages from a friendly pixel UI.</a:t>
            </a:r>
          </a:p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Receive short, helpful, personality-rich answers.</a:t>
            </a:r>
          </a:p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Use buttons for upload, voice, search, and reset.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08760"/>
            <a:ext cx="3520440" cy="4343400"/>
          </a:xfrm>
          <a:prstGeom prst="roundRect">
            <a:avLst/>
          </a:prstGeom>
          <a:solidFill>
            <a:srgbClr val="F2F7FF"/>
          </a:solidFill>
          <a:ln w="17780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508760"/>
            <a:ext cx="3520440" cy="310896"/>
          </a:xfrm>
          <a:prstGeom prst="rect">
            <a:avLst/>
          </a:prstGeom>
          <a:solidFill>
            <a:srgbClr val="26A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155448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mbria"/>
              </a:defRPr>
            </a:pPr>
            <a:r>
              <a:t>System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947672"/>
            <a:ext cx="3200400" cy="3813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Use FastAPI for clean backend endpoints.</a:t>
            </a:r>
          </a:p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Store users, sessions, and memory in MongoDB.</a:t>
            </a:r>
          </a:p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Keep API keys safely in environment variables.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508760"/>
            <a:ext cx="3520440" cy="4343400"/>
          </a:xfrm>
          <a:prstGeom prst="roundRect">
            <a:avLst/>
          </a:prstGeom>
          <a:solidFill>
            <a:srgbClr val="F2F7FF"/>
          </a:solidFill>
          <a:ln w="17780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508760"/>
            <a:ext cx="3520440" cy="310896"/>
          </a:xfrm>
          <a:prstGeom prst="rect">
            <a:avLst/>
          </a:prstGeom>
          <a:solidFill>
            <a:srgbClr val="32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9016" y="1554480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mbria"/>
              </a:defRPr>
            </a:pPr>
            <a:r>
              <a:t>Functional 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1947672"/>
            <a:ext cx="3200400" cy="3813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Integrate Groq LLM through LangChain.</a:t>
            </a:r>
          </a:p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Add document search using chunking and retrieval.</a:t>
            </a:r>
          </a:p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Prepare for TTS, STT, hosting, and future tools.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9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Cambria"/>
              </a:defRPr>
            </a:pPr>
            <a: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9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6556248"/>
            <a:ext cx="5806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BF5FF"/>
                </a:solidFill>
                <a:latin typeface="Calibri"/>
              </a:defRPr>
            </a:pPr>
            <a:r>
              <a:t>Byte-Bot AI Chatbot Project | Frontend + FastAPI + LangChain + MongoDB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224A"/>
                </a:solidFill>
                <a:latin typeface="Cambria"/>
              </a:defRPr>
            </a:pPr>
            <a: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5806440" cy="43891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A3C"/>
                </a:solidFill>
                <a:latin typeface="Calibri"/>
              </a:defRPr>
            </a:pPr>
            <a:r>
              <a:t>A basic chatbot UI is not enough because it cannot preserve memory or call real backend logic.</a:t>
            </a:r>
          </a:p>
          <a:p>
            <a:pPr>
              <a:spcAft>
                <a:spcPts val="600"/>
              </a:spcAft>
              <a:defRPr sz="1600">
                <a:solidFill>
                  <a:srgbClr val="1E2A3C"/>
                </a:solidFill>
                <a:latin typeface="Calibri"/>
              </a:defRPr>
            </a:pPr>
            <a:r>
              <a:t>Without backend organization, login, database storage, and deployment become confusing.</a:t>
            </a:r>
          </a:p>
          <a:p>
            <a:pPr>
              <a:spcAft>
                <a:spcPts val="600"/>
              </a:spcAft>
              <a:defRPr sz="1600">
                <a:solidFill>
                  <a:srgbClr val="1E2A3C"/>
                </a:solidFill>
                <a:latin typeface="Calibri"/>
              </a:defRPr>
            </a:pPr>
            <a:r>
              <a:t>Search results can be messy unless the bot summarizes context first and keeps links separate.</a:t>
            </a:r>
          </a:p>
          <a:p>
            <a:pPr>
              <a:spcAft>
                <a:spcPts val="600"/>
              </a:spcAft>
              <a:defRPr sz="1600">
                <a:solidFill>
                  <a:srgbClr val="1E2A3C"/>
                </a:solidFill>
                <a:latin typeface="Calibri"/>
              </a:defRPr>
            </a:pPr>
            <a:r>
              <a:t>Uploaded files need chunking and retrieval before the bot can answer from PDF/CSV/TXT content.</a:t>
            </a:r>
          </a:p>
          <a:p>
            <a:pPr>
              <a:spcAft>
                <a:spcPts val="600"/>
              </a:spcAft>
              <a:defRPr sz="1600">
                <a:solidFill>
                  <a:srgbClr val="1E2A3C"/>
                </a:solidFill>
                <a:latin typeface="Calibri"/>
              </a:defRPr>
            </a:pPr>
            <a:r>
              <a:t>Voice and assistant tools need a clear roadmap so they do not break the stable chat 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1828800"/>
            <a:ext cx="4297680" cy="1645920"/>
          </a:xfrm>
          <a:prstGeom prst="roundRect">
            <a:avLst/>
          </a:prstGeom>
          <a:solidFill>
            <a:srgbClr val="F2F7FF"/>
          </a:solidFill>
          <a:ln w="17780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12280" y="1828800"/>
            <a:ext cx="4297680" cy="310896"/>
          </a:xfrm>
          <a:prstGeom prst="rect">
            <a:avLst/>
          </a:prstGeom>
          <a:solidFill>
            <a:srgbClr val="FFC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0296" y="1874519"/>
            <a:ext cx="4069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mbria"/>
              </a:defRPr>
            </a:pPr>
            <a:r>
              <a:t>Core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6872" y="2267712"/>
            <a:ext cx="3977640" cy="111556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Merge many parts into one stable beginner-friendly product without losing the Byte-Bot personality.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9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Cambria"/>
              </a:defRPr>
            </a:pPr>
            <a:r>
              <a:t>SOLUTION / PROPOSED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9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6556248"/>
            <a:ext cx="5806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BF5FF"/>
                </a:solidFill>
                <a:latin typeface="Calibri"/>
              </a:defRPr>
            </a:pPr>
            <a:r>
              <a:t>Byte-Bot AI Chatbot Project | Frontend + FastAPI + LangChain + MongoDB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224A"/>
                </a:solidFill>
                <a:latin typeface="Cambria"/>
              </a:defRPr>
            </a:pPr>
            <a:r>
              <a:t>Proposed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5532120" cy="658368"/>
          </a:xfrm>
          <a:prstGeom prst="roundRect">
            <a:avLst/>
          </a:prstGeom>
          <a:solidFill>
            <a:srgbClr val="F2F7FF"/>
          </a:solidFill>
          <a:ln w="17780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5532120" cy="310896"/>
          </a:xfrm>
          <a:prstGeom prst="rect">
            <a:avLst/>
          </a:prstGeom>
          <a:solidFill>
            <a:srgbClr val="1E5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1371600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mbria"/>
              </a:defRPr>
            </a:pPr>
            <a:r>
              <a:t>Pixel Chat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764792"/>
            <a:ext cx="5212080" cy="128016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HTML, CSS, and JavaScript create the visual chat experience.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12264"/>
            <a:ext cx="5532120" cy="658368"/>
          </a:xfrm>
          <a:prstGeom prst="roundRect">
            <a:avLst/>
          </a:prstGeom>
          <a:solidFill>
            <a:srgbClr val="F2F7FF"/>
          </a:solidFill>
          <a:ln w="17780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112264"/>
            <a:ext cx="5532120" cy="310896"/>
          </a:xfrm>
          <a:prstGeom prst="rect">
            <a:avLst/>
          </a:prstGeom>
          <a:solidFill>
            <a:srgbClr val="26A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2157984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mbria"/>
              </a:defRPr>
            </a:pPr>
            <a:r>
              <a:t>FastAPI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2551176"/>
            <a:ext cx="5212080" cy="128016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Python routes receive messages, reset memory, and expose tools.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898648"/>
            <a:ext cx="5532120" cy="658368"/>
          </a:xfrm>
          <a:prstGeom prst="roundRect">
            <a:avLst/>
          </a:prstGeom>
          <a:solidFill>
            <a:srgbClr val="F2F7FF"/>
          </a:solidFill>
          <a:ln w="17780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898648"/>
            <a:ext cx="5532120" cy="310896"/>
          </a:xfrm>
          <a:prstGeom prst="rect">
            <a:avLst/>
          </a:prstGeom>
          <a:solidFill>
            <a:srgbClr val="32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2944368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mbria"/>
              </a:defRPr>
            </a:pPr>
            <a:r>
              <a:t>AI Brain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3337560"/>
            <a:ext cx="5212080" cy="128016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LangChain sends the prompt and history to Groq.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685032"/>
            <a:ext cx="5532120" cy="658368"/>
          </a:xfrm>
          <a:prstGeom prst="roundRect">
            <a:avLst/>
          </a:prstGeom>
          <a:solidFill>
            <a:srgbClr val="F2F7FF"/>
          </a:solidFill>
          <a:ln w="17780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685032"/>
            <a:ext cx="5532120" cy="310896"/>
          </a:xfrm>
          <a:prstGeom prst="rect">
            <a:avLst/>
          </a:prstGeom>
          <a:solidFill>
            <a:srgbClr val="FFC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3730752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mbria"/>
              </a:defRPr>
            </a:pPr>
            <a:r>
              <a:t>MongoDB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4123944"/>
            <a:ext cx="5212080" cy="128016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Registration, login, and chat sessions can be stored in backend database.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471416"/>
            <a:ext cx="5532120" cy="658368"/>
          </a:xfrm>
          <a:prstGeom prst="roundRect">
            <a:avLst/>
          </a:prstGeom>
          <a:solidFill>
            <a:srgbClr val="F2F7FF"/>
          </a:solidFill>
          <a:ln w="17780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4471416"/>
            <a:ext cx="5532120" cy="310896"/>
          </a:xfrm>
          <a:prstGeom prst="rect">
            <a:avLst/>
          </a:prstGeom>
          <a:solidFill>
            <a:srgbClr val="D2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" y="4517136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mbria"/>
              </a:defRPr>
            </a:pPr>
            <a:r>
              <a:t>Tool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910327"/>
            <a:ext cx="5212080" cy="128016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Search, upload, voice, and future assistant tools are added as separate modules.</a:t>
            </a:r>
          </a:p>
        </p:txBody>
      </p:sp>
      <p:pic>
        <p:nvPicPr>
          <p:cNvPr id="28" name="Picture 27" descr="upload-toolk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463040"/>
            <a:ext cx="1325880" cy="1325880"/>
          </a:xfrm>
          <a:prstGeom prst="rect">
            <a:avLst/>
          </a:prstGeom>
        </p:spPr>
      </p:pic>
      <p:pic>
        <p:nvPicPr>
          <p:cNvPr id="29" name="Picture 28" descr="web-search-t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463040"/>
            <a:ext cx="1325880" cy="1325880"/>
          </a:xfrm>
          <a:prstGeom prst="rect">
            <a:avLst/>
          </a:prstGeom>
        </p:spPr>
      </p:pic>
      <p:pic>
        <p:nvPicPr>
          <p:cNvPr id="30" name="Picture 29" descr="voice-output-to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1463040"/>
            <a:ext cx="1325880" cy="13258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903720" y="3200400"/>
            <a:ext cx="4206240" cy="19202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A3C"/>
                </a:solidFill>
                <a:latin typeface="Calibri"/>
              </a:defRPr>
            </a:pPr>
            <a:r>
              <a:t>The base chatbot stays stable first; advanced abilities are added step by step.</a:t>
            </a:r>
          </a:p>
          <a:p>
            <a:pPr>
              <a:spcAft>
                <a:spcPts val="600"/>
              </a:spcAft>
              <a:defRPr sz="1500">
                <a:solidFill>
                  <a:srgbClr val="1E2A3C"/>
                </a:solidFill>
                <a:latin typeface="Calibri"/>
              </a:defRPr>
            </a:pPr>
            <a:r>
              <a:t>Each tool is isolated so one broken feature does not break the whole chat flow.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9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Cambria"/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9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6556248"/>
            <a:ext cx="5806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BF5FF"/>
                </a:solidFill>
                <a:latin typeface="Calibri"/>
              </a:defRPr>
            </a:pPr>
            <a:r>
              <a:t>Byte-Bot AI Chatbot Project | Frontend + FastAPI + LangChain + MongoDB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224A"/>
                </a:solidFill>
                <a:latin typeface="Cambria"/>
              </a:defRPr>
            </a:pPr>
            <a:r>
              <a:t>Architecture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1280160" cy="749808"/>
          </a:xfrm>
          <a:prstGeom prst="roundRect">
            <a:avLst/>
          </a:prstGeom>
          <a:solidFill>
            <a:srgbClr val="1E5494"/>
          </a:solidFill>
          <a:ln>
            <a:solidFill>
              <a:srgbClr val="141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12264" y="1828800"/>
            <a:ext cx="1280160" cy="749808"/>
          </a:xfrm>
          <a:prstGeom prst="roundRect">
            <a:avLst/>
          </a:prstGeom>
          <a:solidFill>
            <a:srgbClr val="26A6DC"/>
          </a:solidFill>
          <a:ln>
            <a:solidFill>
              <a:srgbClr val="141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01951" y="2203704"/>
            <a:ext cx="182881" cy="0"/>
          </a:xfrm>
          <a:prstGeom prst="line">
            <a:avLst/>
          </a:prstGeom>
          <a:ln w="25400">
            <a:solidFill>
              <a:srgbClr val="092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30168" y="1828800"/>
            <a:ext cx="1280160" cy="749808"/>
          </a:xfrm>
          <a:prstGeom prst="roundRect">
            <a:avLst/>
          </a:prstGeom>
          <a:solidFill>
            <a:srgbClr val="32AA6E"/>
          </a:solidFill>
          <a:ln>
            <a:solidFill>
              <a:srgbClr val="141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Calibri"/>
              </a:defRPr>
            </a:pPr>
            <a:r>
              <a:t>FastAPI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19856" y="2203704"/>
            <a:ext cx="182880" cy="0"/>
          </a:xfrm>
          <a:prstGeom prst="line">
            <a:avLst/>
          </a:prstGeom>
          <a:ln w="25400">
            <a:solidFill>
              <a:srgbClr val="092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48072" y="1828800"/>
            <a:ext cx="1280160" cy="749808"/>
          </a:xfrm>
          <a:prstGeom prst="roundRect">
            <a:avLst/>
          </a:prstGeom>
          <a:solidFill>
            <a:srgbClr val="FFC61C"/>
          </a:solidFill>
          <a:ln>
            <a:solidFill>
              <a:srgbClr val="141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141414"/>
                </a:solidFill>
                <a:latin typeface="Calibri"/>
              </a:defRPr>
            </a:pPr>
            <a:r>
              <a:t>LangChain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37760" y="2203704"/>
            <a:ext cx="182880" cy="0"/>
          </a:xfrm>
          <a:prstGeom prst="line">
            <a:avLst/>
          </a:prstGeom>
          <a:ln w="25400">
            <a:solidFill>
              <a:srgbClr val="092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665976" y="1828800"/>
            <a:ext cx="1280160" cy="749808"/>
          </a:xfrm>
          <a:prstGeom prst="roundRect">
            <a:avLst/>
          </a:prstGeom>
          <a:solidFill>
            <a:srgbClr val="D24141"/>
          </a:solidFill>
          <a:ln>
            <a:solidFill>
              <a:srgbClr val="141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Calibri"/>
              </a:defRPr>
            </a:pPr>
            <a:r>
              <a:t>Groq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55664" y="2203704"/>
            <a:ext cx="182880" cy="0"/>
          </a:xfrm>
          <a:prstGeom prst="line">
            <a:avLst/>
          </a:prstGeom>
          <a:ln w="25400">
            <a:solidFill>
              <a:srgbClr val="092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83879" y="1828800"/>
            <a:ext cx="1280160" cy="749808"/>
          </a:xfrm>
          <a:prstGeom prst="roundRect">
            <a:avLst/>
          </a:prstGeom>
          <a:solidFill>
            <a:srgbClr val="09224A"/>
          </a:solidFill>
          <a:ln>
            <a:solidFill>
              <a:srgbClr val="141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Calibri"/>
              </a:defRPr>
            </a:pPr>
            <a:r>
              <a:t>MongoDB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73567" y="2203704"/>
            <a:ext cx="182881" cy="0"/>
          </a:xfrm>
          <a:prstGeom prst="line">
            <a:avLst/>
          </a:prstGeom>
          <a:ln w="25400">
            <a:solidFill>
              <a:srgbClr val="092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701784" y="1828800"/>
            <a:ext cx="1280160" cy="749808"/>
          </a:xfrm>
          <a:prstGeom prst="roundRect">
            <a:avLst/>
          </a:prstGeom>
          <a:solidFill>
            <a:srgbClr val="1E5494"/>
          </a:solidFill>
          <a:ln>
            <a:solidFill>
              <a:srgbClr val="141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Calibri"/>
              </a:defRPr>
            </a:pPr>
            <a:r>
              <a:t>Reply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91472" y="2203704"/>
            <a:ext cx="182880" cy="0"/>
          </a:xfrm>
          <a:prstGeom prst="line">
            <a:avLst/>
          </a:prstGeom>
          <a:ln w="25400">
            <a:solidFill>
              <a:srgbClr val="092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3154680"/>
            <a:ext cx="10424160" cy="19202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A3C"/>
                </a:solidFill>
                <a:latin typeface="Calibri"/>
              </a:defRPr>
            </a:pPr>
            <a:r>
              <a:t>Frontend sends JSON data such as message and session_id using fetch().</a:t>
            </a:r>
          </a:p>
          <a:p>
            <a:pPr>
              <a:spcAft>
                <a:spcPts val="600"/>
              </a:spcAft>
              <a:defRPr sz="1600">
                <a:solidFill>
                  <a:srgbClr val="1E2A3C"/>
                </a:solidFill>
                <a:latin typeface="Calibri"/>
              </a:defRPr>
            </a:pPr>
            <a:r>
              <a:t>FastAPI receives the request, loads memory, adds prompt instructions, and calls the AI model.</a:t>
            </a:r>
          </a:p>
          <a:p>
            <a:pPr>
              <a:spcAft>
                <a:spcPts val="600"/>
              </a:spcAft>
              <a:defRPr sz="1600">
                <a:solidFill>
                  <a:srgbClr val="1E2A3C"/>
                </a:solidFill>
                <a:latin typeface="Calibri"/>
              </a:defRPr>
            </a:pPr>
            <a:r>
              <a:t>MongoDB stores user/login data and can store chat/session data for scalable memory.</a:t>
            </a:r>
          </a:p>
          <a:p>
            <a:pPr>
              <a:spcAft>
                <a:spcPts val="600"/>
              </a:spcAft>
              <a:defRPr sz="1600">
                <a:solidFill>
                  <a:srgbClr val="1E2A3C"/>
                </a:solidFill>
                <a:latin typeface="Calibri"/>
              </a:defRPr>
            </a:pPr>
            <a:r>
              <a:t>The backend returns JSON, and JavaScript renders it inside the pixel chat bubble.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9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Cambria"/>
              </a:defRPr>
            </a:pPr>
            <a:r>
              <a:t>TECHNOLOGIES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9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6556248"/>
            <a:ext cx="5806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BF5FF"/>
                </a:solidFill>
                <a:latin typeface="Calibri"/>
              </a:defRPr>
            </a:pPr>
            <a:r>
              <a:t>Byte-Bot AI Chatbot Project | Frontend + FastAPI + LangChain + MongoDB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224A"/>
                </a:solidFill>
                <a:latin typeface="Cambria"/>
              </a:defRPr>
            </a:pPr>
            <a:r>
              <a:t>Tools Used and Why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5166360" cy="1051560"/>
          </a:xfrm>
          <a:prstGeom prst="roundRect">
            <a:avLst/>
          </a:prstGeom>
          <a:solidFill>
            <a:srgbClr val="F2F7FF"/>
          </a:solidFill>
          <a:ln w="17780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5166360" cy="310896"/>
          </a:xfrm>
          <a:prstGeom prst="rect">
            <a:avLst/>
          </a:prstGeom>
          <a:solidFill>
            <a:srgbClr val="1E5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1371600"/>
            <a:ext cx="4937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mbria"/>
              </a:defRPr>
            </a:pPr>
            <a:r>
              <a:t>HTML / CSS / 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764792"/>
            <a:ext cx="4846320" cy="521207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Simple frontend stack, easy to edit, good for learning web basics.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166360" cy="1051560"/>
          </a:xfrm>
          <a:prstGeom prst="roundRect">
            <a:avLst/>
          </a:prstGeom>
          <a:solidFill>
            <a:srgbClr val="F2F7FF"/>
          </a:solidFill>
          <a:ln w="17780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5166360" cy="310896"/>
          </a:xfrm>
          <a:prstGeom prst="rect">
            <a:avLst/>
          </a:prstGeom>
          <a:solidFill>
            <a:srgbClr val="26A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5" y="1371600"/>
            <a:ext cx="4937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mbria"/>
              </a:defRPr>
            </a:pPr>
            <a:r>
              <a:t>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1764792"/>
            <a:ext cx="4846320" cy="521207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Modern Python framework, fast JSON APIs, automatic docs, cleaner than Flask for API work.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743200"/>
            <a:ext cx="5166360" cy="1051560"/>
          </a:xfrm>
          <a:prstGeom prst="roundRect">
            <a:avLst/>
          </a:prstGeom>
          <a:solidFill>
            <a:srgbClr val="F2F7FF"/>
          </a:solidFill>
          <a:ln w="17780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743200"/>
            <a:ext cx="5166360" cy="310896"/>
          </a:xfrm>
          <a:prstGeom prst="rect">
            <a:avLst/>
          </a:prstGeom>
          <a:solidFill>
            <a:srgbClr val="32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2788920"/>
            <a:ext cx="4937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mbria"/>
              </a:defRPr>
            </a:pPr>
            <a:r>
              <a:t>LangChain + Groq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3182112"/>
            <a:ext cx="4846320" cy="521207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LangChain organizes prompts and memory; Groq gives fast LLM responses.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743200"/>
            <a:ext cx="5166360" cy="1051560"/>
          </a:xfrm>
          <a:prstGeom prst="roundRect">
            <a:avLst/>
          </a:prstGeom>
          <a:solidFill>
            <a:srgbClr val="F2F7FF"/>
          </a:solidFill>
          <a:ln w="17780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743200"/>
            <a:ext cx="5166360" cy="310896"/>
          </a:xfrm>
          <a:prstGeom prst="rect">
            <a:avLst/>
          </a:prstGeom>
          <a:solidFill>
            <a:srgbClr val="FFC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655" y="2788920"/>
            <a:ext cx="4937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mbria"/>
              </a:defRPr>
            </a:pPr>
            <a:r>
              <a:t>MongoDB Atlas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3182112"/>
            <a:ext cx="4846320" cy="521207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Cloud database for registration, login, sessions, and future scalable storage.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160520"/>
            <a:ext cx="5166360" cy="1051560"/>
          </a:xfrm>
          <a:prstGeom prst="roundRect">
            <a:avLst/>
          </a:prstGeom>
          <a:solidFill>
            <a:srgbClr val="F2F7FF"/>
          </a:solidFill>
          <a:ln w="17780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4160520"/>
            <a:ext cx="5166360" cy="310896"/>
          </a:xfrm>
          <a:prstGeom prst="rect">
            <a:avLst/>
          </a:prstGeom>
          <a:solidFill>
            <a:srgbClr val="D2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" y="4206240"/>
            <a:ext cx="4937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mbria"/>
              </a:defRPr>
            </a:pPr>
            <a:r>
              <a:t>SerpApi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599431"/>
            <a:ext cx="4846320" cy="521207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Search API for web/image results when user asks for current external information.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160520"/>
            <a:ext cx="5166360" cy="1051560"/>
          </a:xfrm>
          <a:prstGeom prst="roundRect">
            <a:avLst/>
          </a:prstGeom>
          <a:solidFill>
            <a:srgbClr val="F2F7FF"/>
          </a:solidFill>
          <a:ln w="17780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4160520"/>
            <a:ext cx="5166360" cy="310896"/>
          </a:xfrm>
          <a:prstGeom prst="rect">
            <a:avLst/>
          </a:prstGeom>
          <a:solidFill>
            <a:srgbClr val="09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1655" y="4206240"/>
            <a:ext cx="4937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mbria"/>
              </a:defRPr>
            </a:pPr>
            <a:r>
              <a:t>Vercel / Render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1" y="4599431"/>
            <a:ext cx="4846320" cy="521207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Free-friendly hosting path: frontend on Vercel, backend on Render/Railway.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9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Cambria"/>
              </a:defRPr>
            </a:pPr>
            <a:r>
              <a:t>FEATURES /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9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6556248"/>
            <a:ext cx="5806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BF5FF"/>
                </a:solidFill>
                <a:latin typeface="Calibri"/>
              </a:defRPr>
            </a:pPr>
            <a:r>
              <a:t>Byte-Bot AI Chatbot Project | Frontend + FastAPI + LangChain + MongoDB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224A"/>
                </a:solidFill>
                <a:latin typeface="Cambria"/>
              </a:defRPr>
            </a:pPr>
            <a:r>
              <a:t>Current and Planned Modules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474720" cy="4434840"/>
          </a:xfrm>
          <a:prstGeom prst="roundRect">
            <a:avLst/>
          </a:prstGeom>
          <a:solidFill>
            <a:srgbClr val="F2F7FF"/>
          </a:solidFill>
          <a:ln w="17780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3474720" cy="310896"/>
          </a:xfrm>
          <a:prstGeom prst="rect">
            <a:avLst/>
          </a:prstGeom>
          <a:solidFill>
            <a:srgbClr val="32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1371600"/>
            <a:ext cx="3246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mbria"/>
              </a:defRPr>
            </a:pPr>
            <a:r>
              <a:t>Completed / Started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764792"/>
            <a:ext cx="3154679" cy="3904487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Pixel login and chat UI</a:t>
            </a:r>
          </a:p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Backend /chat endpoint</a:t>
            </a:r>
          </a:p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Groq + LangChain reply</a:t>
            </a:r>
          </a:p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MongoDB login connection</a:t>
            </a:r>
          </a:p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Web search and image search</a:t>
            </a:r>
          </a:p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Upload chunking prototype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25880"/>
            <a:ext cx="3474720" cy="4434840"/>
          </a:xfrm>
          <a:prstGeom prst="roundRect">
            <a:avLst/>
          </a:prstGeom>
          <a:solidFill>
            <a:srgbClr val="F2F7FF"/>
          </a:solidFill>
          <a:ln w="17780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325880"/>
            <a:ext cx="3474720" cy="310896"/>
          </a:xfrm>
          <a:prstGeom prst="rect">
            <a:avLst/>
          </a:prstGeom>
          <a:solidFill>
            <a:srgbClr val="26A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1371600"/>
            <a:ext cx="3246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mbria"/>
              </a:defRPr>
            </a:pPr>
            <a:r>
              <a:t>In Progress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764792"/>
            <a:ext cx="3154679" cy="3904487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Cleaner RAG answers</a:t>
            </a:r>
          </a:p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PDF/CSV/TXT semantic retrieval</a:t>
            </a:r>
          </a:p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Better response formatting</a:t>
            </a:r>
          </a:p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Deployment configuration</a:t>
            </a:r>
          </a:p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Teacher-ready documentation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325880"/>
            <a:ext cx="3474720" cy="4434840"/>
          </a:xfrm>
          <a:prstGeom prst="roundRect">
            <a:avLst/>
          </a:prstGeom>
          <a:solidFill>
            <a:srgbClr val="F2F7FF"/>
          </a:solidFill>
          <a:ln w="17780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325880"/>
            <a:ext cx="3474720" cy="310896"/>
          </a:xfrm>
          <a:prstGeom prst="rect">
            <a:avLst/>
          </a:prstGeom>
          <a:solidFill>
            <a:srgbClr val="FFC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9016" y="1371600"/>
            <a:ext cx="3246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mbria"/>
              </a:defRPr>
            </a:pPr>
            <a:r>
              <a:t>Future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1764792"/>
            <a:ext cx="3154679" cy="3904487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Voice input using Whisper</a:t>
            </a:r>
          </a:p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Voice output using TTS</a:t>
            </a:r>
          </a:p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Assistant tools/actions</a:t>
            </a:r>
          </a:p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Long-term memory</a:t>
            </a:r>
          </a:p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Authentication polish</a:t>
            </a:r>
          </a:p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Production 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9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Cambria"/>
              </a:defRPr>
            </a:pPr>
            <a:r>
              <a:t>WORKFLOW AND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9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6556248"/>
            <a:ext cx="5806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BF5FF"/>
                </a:solidFill>
                <a:latin typeface="Calibri"/>
              </a:defRPr>
            </a:pPr>
            <a:r>
              <a:t>Byte-Bot AI Chatbot Project | Frontend + FastAPI + LangChain + MongoDB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224A"/>
                </a:solidFill>
                <a:latin typeface="Cambria"/>
              </a:defRPr>
            </a:pPr>
            <a:r>
              <a:t>How Everything Was Merged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5394960" cy="44805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A3C"/>
                </a:solidFill>
                <a:latin typeface="Calibri"/>
              </a:defRPr>
            </a:pPr>
            <a:r>
              <a:t>Designed the pixel frontend with static HTML, CSS animations, mascot, and chat bubbles.</a:t>
            </a:r>
          </a:p>
          <a:p>
            <a:pPr>
              <a:spcAft>
                <a:spcPts val="600"/>
              </a:spcAft>
              <a:defRPr sz="1500">
                <a:solidFill>
                  <a:srgbClr val="1E2A3C"/>
                </a:solidFill>
                <a:latin typeface="Calibri"/>
              </a:defRPr>
            </a:pPr>
            <a:r>
              <a:t>Added JavaScript event handling for Send, Reset, Upload, Search, and Voice buttons.</a:t>
            </a:r>
          </a:p>
          <a:p>
            <a:pPr>
              <a:spcAft>
                <a:spcPts val="600"/>
              </a:spcAft>
              <a:defRPr sz="1500">
                <a:solidFill>
                  <a:srgbClr val="1E2A3C"/>
                </a:solidFill>
                <a:latin typeface="Calibri"/>
              </a:defRPr>
            </a:pPr>
            <a:r>
              <a:t>Connected fetch() calls to FastAPI routes such as /chat, /reset, and tool endpoints.</a:t>
            </a:r>
          </a:p>
          <a:p>
            <a:pPr>
              <a:spcAft>
                <a:spcPts val="600"/>
              </a:spcAft>
              <a:defRPr sz="1500">
                <a:solidFill>
                  <a:srgbClr val="1E2A3C"/>
                </a:solidFill>
                <a:latin typeface="Calibri"/>
              </a:defRPr>
            </a:pPr>
            <a:r>
              <a:t>Backend loads environment variables, database connection, prompt, memory, and tool modules.</a:t>
            </a:r>
          </a:p>
          <a:p>
            <a:pPr>
              <a:spcAft>
                <a:spcPts val="600"/>
              </a:spcAft>
              <a:defRPr sz="1500">
                <a:solidFill>
                  <a:srgbClr val="1E2A3C"/>
                </a:solidFill>
                <a:latin typeface="Calibri"/>
              </a:defRPr>
            </a:pPr>
            <a:r>
              <a:t>Responses are returned as JSON and rendered back into the chat UI.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914400" cy="658368"/>
          </a:xfrm>
          <a:prstGeom prst="roundRect">
            <a:avLst/>
          </a:prstGeom>
          <a:solidFill>
            <a:srgbClr val="1E5494"/>
          </a:solidFill>
          <a:ln>
            <a:solidFill>
              <a:srgbClr val="141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Calibri"/>
              </a:defRPr>
            </a:pPr>
            <a:r>
              <a:t>Click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828800"/>
            <a:ext cx="914400" cy="658368"/>
          </a:xfrm>
          <a:prstGeom prst="roundRect">
            <a:avLst/>
          </a:prstGeom>
          <a:solidFill>
            <a:srgbClr val="26A6DC"/>
          </a:solidFill>
          <a:ln>
            <a:solidFill>
              <a:srgbClr val="141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Calibri"/>
              </a:defRPr>
            </a:pPr>
            <a:r>
              <a:t>JS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42631" y="2157984"/>
            <a:ext cx="128017" cy="0"/>
          </a:xfrm>
          <a:prstGeom prst="line">
            <a:avLst/>
          </a:prstGeom>
          <a:ln w="25400">
            <a:solidFill>
              <a:srgbClr val="092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95360" y="1828800"/>
            <a:ext cx="914400" cy="658368"/>
          </a:xfrm>
          <a:prstGeom prst="roundRect">
            <a:avLst/>
          </a:prstGeom>
          <a:solidFill>
            <a:srgbClr val="32AA6E"/>
          </a:solidFill>
          <a:ln>
            <a:solidFill>
              <a:srgbClr val="141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Calibri"/>
              </a:defRPr>
            </a:pPr>
            <a:r>
              <a:t>Fetch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39912" y="2157984"/>
            <a:ext cx="128016" cy="0"/>
          </a:xfrm>
          <a:prstGeom prst="line">
            <a:avLst/>
          </a:prstGeom>
          <a:ln w="25400">
            <a:solidFill>
              <a:srgbClr val="092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92640" y="1828800"/>
            <a:ext cx="914400" cy="658368"/>
          </a:xfrm>
          <a:prstGeom prst="roundRect">
            <a:avLst/>
          </a:prstGeom>
          <a:solidFill>
            <a:srgbClr val="FFC61C"/>
          </a:solidFill>
          <a:ln>
            <a:solidFill>
              <a:srgbClr val="141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141414"/>
                </a:solidFill>
                <a:latin typeface="Calibri"/>
              </a:defRPr>
            </a:pPr>
            <a:r>
              <a:t>API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37192" y="2157984"/>
            <a:ext cx="128016" cy="0"/>
          </a:xfrm>
          <a:prstGeom prst="line">
            <a:avLst/>
          </a:prstGeom>
          <a:ln w="25400">
            <a:solidFill>
              <a:srgbClr val="092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789920" y="1828800"/>
            <a:ext cx="914400" cy="658368"/>
          </a:xfrm>
          <a:prstGeom prst="roundRect">
            <a:avLst/>
          </a:prstGeom>
          <a:solidFill>
            <a:srgbClr val="D24141"/>
          </a:solidFill>
          <a:ln>
            <a:solidFill>
              <a:srgbClr val="141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Calibri"/>
              </a:defRPr>
            </a:pPr>
            <a:r>
              <a:t>AI/DB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634472" y="2157984"/>
            <a:ext cx="128016" cy="0"/>
          </a:xfrm>
          <a:prstGeom prst="line">
            <a:avLst/>
          </a:prstGeom>
          <a:ln w="25400">
            <a:solidFill>
              <a:srgbClr val="092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1887200" y="1828800"/>
            <a:ext cx="914400" cy="658368"/>
          </a:xfrm>
          <a:prstGeom prst="roundRect">
            <a:avLst/>
          </a:prstGeom>
          <a:solidFill>
            <a:srgbClr val="09224A"/>
          </a:solidFill>
          <a:ln>
            <a:solidFill>
              <a:srgbClr val="141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  <a:latin typeface="Calibri"/>
              </a:defRPr>
            </a:pPr>
            <a:r>
              <a:t>Bubble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731752" y="2157984"/>
            <a:ext cx="128016" cy="0"/>
          </a:xfrm>
          <a:prstGeom prst="line">
            <a:avLst/>
          </a:prstGeom>
          <a:ln w="25400">
            <a:solidFill>
              <a:srgbClr val="092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0" y="3063240"/>
            <a:ext cx="4754880" cy="1508760"/>
          </a:xfrm>
          <a:prstGeom prst="roundRect">
            <a:avLst/>
          </a:prstGeom>
          <a:solidFill>
            <a:srgbClr val="F2F7FF"/>
          </a:solidFill>
          <a:ln w="17780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063240"/>
            <a:ext cx="4754880" cy="310896"/>
          </a:xfrm>
          <a:prstGeom prst="rect">
            <a:avLst/>
          </a:prstGeom>
          <a:solidFill>
            <a:srgbClr val="D2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28816" y="3108960"/>
            <a:ext cx="4526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mbria"/>
              </a:defRPr>
            </a:pPr>
            <a:r>
              <a:t>Important Integration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502152"/>
            <a:ext cx="4434840" cy="978407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Frontend knows the backend URL only. Secrets, AI keys, database logic, and tool logic stay in backend.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9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Cambria"/>
              </a:defRPr>
            </a:pPr>
            <a:r>
              <a:t>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9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6556248"/>
            <a:ext cx="5806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BF5FF"/>
                </a:solidFill>
                <a:latin typeface="Calibri"/>
              </a:defRPr>
            </a:pPr>
            <a:r>
              <a:t>Byte-Bot AI Chatbot Project | Frontend + FastAPI + LangChain + MongoDB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224A"/>
                </a:solidFill>
                <a:latin typeface="Cambria"/>
              </a:defRPr>
            </a:pPr>
            <a:r>
              <a:t>Roadmap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5166360" cy="1024128"/>
          </a:xfrm>
          <a:prstGeom prst="roundRect">
            <a:avLst/>
          </a:prstGeom>
          <a:solidFill>
            <a:srgbClr val="F2F7FF"/>
          </a:solidFill>
          <a:ln w="17780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5166360" cy="310896"/>
          </a:xfrm>
          <a:prstGeom prst="rect">
            <a:avLst/>
          </a:prstGeom>
          <a:solidFill>
            <a:srgbClr val="1E5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1371600"/>
            <a:ext cx="4937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mbria"/>
              </a:defRPr>
            </a:pPr>
            <a:r>
              <a:t>TTS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764792"/>
            <a:ext cx="4846320" cy="493776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Browser speechSynthesis first; later ElevenLabs/OpenAI TTS.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166360" cy="1024128"/>
          </a:xfrm>
          <a:prstGeom prst="roundRect">
            <a:avLst/>
          </a:prstGeom>
          <a:solidFill>
            <a:srgbClr val="F2F7FF"/>
          </a:solidFill>
          <a:ln w="17780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5166360" cy="310896"/>
          </a:xfrm>
          <a:prstGeom prst="rect">
            <a:avLst/>
          </a:prstGeom>
          <a:solidFill>
            <a:srgbClr val="26A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5" y="1371600"/>
            <a:ext cx="4937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mbria"/>
              </a:defRPr>
            </a:pPr>
            <a:r>
              <a:t>STT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1764792"/>
            <a:ext cx="4846320" cy="493776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Whisper/OpenAI transcription endpoint or browser speech recognition.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743200"/>
            <a:ext cx="5166360" cy="1024128"/>
          </a:xfrm>
          <a:prstGeom prst="roundRect">
            <a:avLst/>
          </a:prstGeom>
          <a:solidFill>
            <a:srgbClr val="F2F7FF"/>
          </a:solidFill>
          <a:ln w="17780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743200"/>
            <a:ext cx="5166360" cy="310896"/>
          </a:xfrm>
          <a:prstGeom prst="rect">
            <a:avLst/>
          </a:prstGeom>
          <a:solidFill>
            <a:srgbClr val="32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2788920"/>
            <a:ext cx="4937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mbria"/>
              </a:defRPr>
            </a:pPr>
            <a:r>
              <a:t>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3182112"/>
            <a:ext cx="4846320" cy="493776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Upload PDFs, CSVs, TXT files, split into chunks, retrieve relevant context.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743200"/>
            <a:ext cx="5166360" cy="1024128"/>
          </a:xfrm>
          <a:prstGeom prst="roundRect">
            <a:avLst/>
          </a:prstGeom>
          <a:solidFill>
            <a:srgbClr val="F2F7FF"/>
          </a:solidFill>
          <a:ln w="17780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743200"/>
            <a:ext cx="5166360" cy="310896"/>
          </a:xfrm>
          <a:prstGeom prst="rect">
            <a:avLst/>
          </a:prstGeom>
          <a:solidFill>
            <a:srgbClr val="FFC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655" y="2788920"/>
            <a:ext cx="4937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mbria"/>
              </a:defRPr>
            </a:pPr>
            <a:r>
              <a:t>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3182112"/>
            <a:ext cx="4846320" cy="493776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Search, calculator, notes, image search, and personal assistant actions.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160520"/>
            <a:ext cx="5166360" cy="1024128"/>
          </a:xfrm>
          <a:prstGeom prst="roundRect">
            <a:avLst/>
          </a:prstGeom>
          <a:solidFill>
            <a:srgbClr val="F2F7FF"/>
          </a:solidFill>
          <a:ln w="17780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4160520"/>
            <a:ext cx="5166360" cy="310896"/>
          </a:xfrm>
          <a:prstGeom prst="rect">
            <a:avLst/>
          </a:prstGeom>
          <a:solidFill>
            <a:srgbClr val="D2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" y="4206240"/>
            <a:ext cx="4937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mbria"/>
              </a:defRPr>
            </a:pPr>
            <a:r>
              <a:t>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599431"/>
            <a:ext cx="4846320" cy="493776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Vercel/Netlify frontend plus Render/Railway backend and MongoDB Atlas.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160520"/>
            <a:ext cx="5166360" cy="1024128"/>
          </a:xfrm>
          <a:prstGeom prst="roundRect">
            <a:avLst/>
          </a:prstGeom>
          <a:solidFill>
            <a:srgbClr val="F2F7FF"/>
          </a:solidFill>
          <a:ln w="17780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4160520"/>
            <a:ext cx="5166360" cy="310896"/>
          </a:xfrm>
          <a:prstGeom prst="rect">
            <a:avLst/>
          </a:prstGeom>
          <a:solidFill>
            <a:srgbClr val="09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1655" y="4206240"/>
            <a:ext cx="4937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mbria"/>
              </a:defRPr>
            </a:pPr>
            <a:r>
              <a:t>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1" y="4599431"/>
            <a:ext cx="4846320" cy="493776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Hash passwords, add tokens, protect environment variables, rate limit APIs.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at-sunset-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3317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9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Cambria"/>
              </a:defRPr>
            </a:pPr>
            <a:r>
              <a:t>CONCLUSION AND 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9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0" y="6556248"/>
            <a:ext cx="5806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EBF5FF"/>
                </a:solidFill>
                <a:latin typeface="Calibri"/>
              </a:defRPr>
            </a:pPr>
            <a:r>
              <a:t>Byte-Bot AI Chatbot Project | Frontend + FastAPI + LangChain + MongoDB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5577840" cy="3474720"/>
          </a:xfrm>
          <a:prstGeom prst="roundRect">
            <a:avLst/>
          </a:prstGeom>
          <a:solidFill>
            <a:srgbClr val="F2F7FF"/>
          </a:solidFill>
          <a:ln w="17780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417320"/>
            <a:ext cx="5577840" cy="310896"/>
          </a:xfrm>
          <a:prstGeom prst="rect">
            <a:avLst/>
          </a:prstGeom>
          <a:solidFill>
            <a:srgbClr val="32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463040"/>
            <a:ext cx="5349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mbria"/>
              </a:defRPr>
            </a:pPr>
            <a: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856232"/>
            <a:ext cx="5257800" cy="294436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Byte-Bot has moved from a frontend demo toward a real AI assistant project.</a:t>
            </a:r>
          </a:p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The system combines pixel UI, FastAPI backend, AI model calls, memory, search, and upload-tool planning.</a:t>
            </a:r>
          </a:p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The chosen tools are beginner-friendly, scalable, and suitable for local testing and future hosting.</a:t>
            </a:r>
          </a:p>
          <a:p>
            <a:pPr>
              <a:spcAft>
                <a:spcPts val="600"/>
              </a:spcAft>
              <a:defRPr sz="1200">
                <a:solidFill>
                  <a:srgbClr val="1E2A3C"/>
                </a:solidFill>
                <a:latin typeface="Calibri"/>
              </a:defRPr>
            </a:pPr>
            <a:r>
              <a:t>Next focus: stable deployment, better RAG, voice features, and secure authentication.</a:t>
            </a:r>
          </a:p>
        </p:txBody>
      </p:sp>
      <p:pic>
        <p:nvPicPr>
          <p:cNvPr id="12" name="Picture 11" descr="landing-mas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011680"/>
            <a:ext cx="182880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12280" y="4069080"/>
            <a:ext cx="4480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800">
                <a:solidFill>
                  <a:srgbClr val="FFFFFF"/>
                </a:solidFill>
                <a:latin typeface="Cambria"/>
              </a:defRPr>
            </a:pPr>
            <a:r>
              <a:t>THANK YOU</a:t>
            </a:r>
            <a:br/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