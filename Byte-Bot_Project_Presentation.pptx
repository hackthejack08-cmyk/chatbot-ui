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3341D9-7EC9-4812-B8CE-B2D8F08580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B6376B-ADC2-499D-ABDF-2C9E44271F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1A5AB-92AA-4F20-938E-84BB7892179B}"/>
              </a:ext>
            </a:extLst>
          </p:cNvPr>
          <p:cNvSpPr>
            <a:spLocks noGrp="1"/>
          </p:cNvSpPr>
          <p:nvPr/>
        </p:nvSpPr>
        <p:spPr>
          <a:xfrm>
            <a:off x="495300" y="228600"/>
            <a:ext cx="800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BYTE-BOT AI CHATBOT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7494E-5509-4B5A-BB71-BACBAC93CF34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685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650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Pixel-style AI companion with FastAPI, MongoDB memory, Groq/LangChain, and future RAG tools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FAB5D5-C863-44CD-B00A-F591AC20F848}"/>
              </a:ext>
            </a:extLst>
          </p:cNvPr>
          <p:cNvSpPr>
            <a:spLocks noGrp="1"/>
          </p:cNvSpPr>
          <p:nvPr/>
        </p:nvSpPr>
        <p:spPr>
          <a:xfrm>
            <a:off x="514350" y="2333625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Submitted By: Harsh Tiwari</a:t>
            </a:r>
          </a:p>
          <a:p>
            <a:pPr algn="l">
              <a:defRPr sz="15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Guided By: Faculty Name</a:t>
            </a:r>
          </a:p>
          <a:p>
            <a:pPr algn="l">
              <a:defRPr sz="15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12677" r="12677"/>
          <a:stretch>
            <a:fillRect/>
          </a:stretch>
        </p:blipFill>
        <p:spPr>
          <a:xfrm>
            <a:off x="6572250" y="1238250"/>
            <a:ext cx="4572000" cy="2762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6D231E-048A-4A18-88EE-ECA4010EC947}"/>
              </a:ext>
            </a:extLst>
          </p:cNvPr>
          <p:cNvSpPr>
            <a:spLocks noGrp="1"/>
          </p:cNvSpPr>
          <p:nvPr/>
        </p:nvSpPr>
        <p:spPr>
          <a:xfrm>
            <a:off x="5619750" y="2076450"/>
            <a:ext cx="876300" cy="8763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10C098-BEE9-4C78-A1F0-48E7F3E8E742}"/>
              </a:ext>
            </a:extLst>
          </p:cNvPr>
          <p:cNvSpPr>
            <a:spLocks noGrp="1"/>
          </p:cNvSpPr>
          <p:nvPr/>
        </p:nvSpPr>
        <p:spPr>
          <a:xfrm>
            <a:off x="5848350" y="2247900"/>
            <a:ext cx="419100" cy="323850"/>
          </a:xfrm>
          <a:prstGeom prst="rect">
            <a:avLst/>
          </a:prstGeom>
          <a:solidFill>
            <a:srgbClr val="DDF5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37FF5D-B108-41DB-BE62-6DB10B2F6A04}"/>
              </a:ext>
            </a:extLst>
          </p:cNvPr>
          <p:cNvSpPr>
            <a:spLocks noGrp="1"/>
          </p:cNvSpPr>
          <p:nvPr/>
        </p:nvSpPr>
        <p:spPr>
          <a:xfrm>
            <a:off x="5943600" y="2609850"/>
            <a:ext cx="228600" cy="95250"/>
          </a:xfrm>
          <a:prstGeom prst="rect">
            <a:avLst/>
          </a:prstGeom>
          <a:solidFill>
            <a:srgbClr val="B7C6D8"/>
          </a:solidFill>
          <a:ln w="0">
            <a:solidFill>
              <a:srgbClr val="B7C6D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F5D46F-828C-436A-BE17-FDF00D6F4BBE}"/>
              </a:ext>
            </a:extLst>
          </p:cNvPr>
          <p:cNvSpPr>
            <a:spLocks noGrp="1"/>
          </p:cNvSpPr>
          <p:nvPr/>
        </p:nvSpPr>
        <p:spPr>
          <a:xfrm>
            <a:off x="5867400" y="2724150"/>
            <a:ext cx="381000" cy="76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ACD289-1856-43E6-AC6D-DA698747129C}"/>
              </a:ext>
            </a:extLst>
          </p:cNvPr>
          <p:cNvSpPr>
            <a:spLocks noGrp="1"/>
          </p:cNvSpPr>
          <p:nvPr/>
        </p:nvSpPr>
        <p:spPr>
          <a:xfrm>
            <a:off x="5667375" y="2819400"/>
            <a:ext cx="781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BYTE-BOT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9EFB5B-8147-4077-B830-C9429C77FB70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2EC5A1-2223-42D1-9C68-988BE987BCC0}"/>
              </a:ext>
            </a:extLst>
          </p:cNvPr>
          <p:cNvSpPr>
            <a:spLocks noGrp="1"/>
          </p:cNvSpPr>
          <p:nvPr/>
        </p:nvSpPr>
        <p:spPr>
          <a:xfrm>
            <a:off x="495300" y="663892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934322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527CBF6-7EAA-4922-847D-8102AE28E7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2F271-DFA6-4603-A13F-82C312459B2C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TABLE OF CONTENT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CF3AF8-4D59-45ED-A61B-22494105270C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6AC788-8567-4199-8635-AEB80313F78F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17F70-74AA-4EB4-A886-E47BF99C360D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C034E-208E-4986-AA31-B1721B7CAFF6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51913B-8DB6-47B4-91CC-C06BAA02CB99}"/>
              </a:ext>
            </a:extLst>
          </p:cNvPr>
          <p:cNvSpPr>
            <a:spLocks noGrp="1"/>
          </p:cNvSpPr>
          <p:nvPr/>
        </p:nvSpPr>
        <p:spPr>
          <a:xfrm>
            <a:off x="666750" y="10477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57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Presentation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EBB720-FACC-412D-999D-A1DD74697734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74A76-8595-4358-A000-685ECF4BC32C}"/>
              </a:ext>
            </a:extLst>
          </p:cNvPr>
          <p:cNvSpPr>
            <a:spLocks noGrp="1"/>
          </p:cNvSpPr>
          <p:nvPr/>
        </p:nvSpPr>
        <p:spPr>
          <a:xfrm>
            <a:off x="1104900" y="1619250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071853-6021-4DEC-9434-A92DFCFF9941}"/>
              </a:ext>
            </a:extLst>
          </p:cNvPr>
          <p:cNvSpPr>
            <a:spLocks noGrp="1"/>
          </p:cNvSpPr>
          <p:nvPr/>
        </p:nvSpPr>
        <p:spPr>
          <a:xfrm>
            <a:off x="876300" y="21240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2A5458-A634-4130-AEEF-369197958673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7F41E9-7B51-4131-93D9-F02CDDF022E0}"/>
              </a:ext>
            </a:extLst>
          </p:cNvPr>
          <p:cNvSpPr>
            <a:spLocks noGrp="1"/>
          </p:cNvSpPr>
          <p:nvPr/>
        </p:nvSpPr>
        <p:spPr>
          <a:xfrm>
            <a:off x="876300" y="25812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73CF33-9857-4FF9-8D3C-9FE238D2F496}"/>
              </a:ext>
            </a:extLst>
          </p:cNvPr>
          <p:cNvSpPr>
            <a:spLocks noGrp="1"/>
          </p:cNvSpPr>
          <p:nvPr/>
        </p:nvSpPr>
        <p:spPr>
          <a:xfrm>
            <a:off x="1104900" y="2533650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Objectives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75F87-BB95-4190-8EA7-DE437D4FC210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B5F681-3E29-4E39-A84B-5D76BC95A324}"/>
              </a:ext>
            </a:extLst>
          </p:cNvPr>
          <p:cNvSpPr>
            <a:spLocks noGrp="1"/>
          </p:cNvSpPr>
          <p:nvPr/>
        </p:nvSpPr>
        <p:spPr>
          <a:xfrm>
            <a:off x="1104900" y="2990850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Solution / Proposed System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238A01-1398-4671-94AA-563D4A1C04C2}"/>
              </a:ext>
            </a:extLst>
          </p:cNvPr>
          <p:cNvSpPr>
            <a:spLocks noGrp="1"/>
          </p:cNvSpPr>
          <p:nvPr/>
        </p:nvSpPr>
        <p:spPr>
          <a:xfrm>
            <a:off x="876300" y="34956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F86B69-D94F-473C-8184-2810366F8FA8}"/>
              </a:ext>
            </a:extLst>
          </p:cNvPr>
          <p:cNvSpPr>
            <a:spLocks noGrp="1"/>
          </p:cNvSpPr>
          <p:nvPr/>
        </p:nvSpPr>
        <p:spPr>
          <a:xfrm>
            <a:off x="1104900" y="3448050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5BE855-C6B3-4CA1-9C11-76AE22C015BD}"/>
              </a:ext>
            </a:extLst>
          </p:cNvPr>
          <p:cNvSpPr>
            <a:spLocks noGrp="1"/>
          </p:cNvSpPr>
          <p:nvPr/>
        </p:nvSpPr>
        <p:spPr>
          <a:xfrm>
            <a:off x="6096000" y="16668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7CAFA0-A029-46F9-BC16-4C2251E38BDA}"/>
              </a:ext>
            </a:extLst>
          </p:cNvPr>
          <p:cNvSpPr>
            <a:spLocks noGrp="1"/>
          </p:cNvSpPr>
          <p:nvPr/>
        </p:nvSpPr>
        <p:spPr>
          <a:xfrm>
            <a:off x="6324600" y="16192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Technologies Used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A6CB6C-6839-4097-B6B3-A1E03C3623C0}"/>
              </a:ext>
            </a:extLst>
          </p:cNvPr>
          <p:cNvSpPr>
            <a:spLocks noGrp="1"/>
          </p:cNvSpPr>
          <p:nvPr/>
        </p:nvSpPr>
        <p:spPr>
          <a:xfrm>
            <a:off x="6096000" y="21240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6B5726-7EF9-4222-8312-5FB19199102B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Features / Modules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44F762-5F80-46B5-971E-83C8BBFE5BA7}"/>
              </a:ext>
            </a:extLst>
          </p:cNvPr>
          <p:cNvSpPr>
            <a:spLocks noGrp="1"/>
          </p:cNvSpPr>
          <p:nvPr/>
        </p:nvSpPr>
        <p:spPr>
          <a:xfrm>
            <a:off x="6096000" y="25812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2349B0-5382-4C59-B5D3-F316DC032AC4}"/>
              </a:ext>
            </a:extLst>
          </p:cNvPr>
          <p:cNvSpPr>
            <a:spLocks noGrp="1"/>
          </p:cNvSpPr>
          <p:nvPr/>
        </p:nvSpPr>
        <p:spPr>
          <a:xfrm>
            <a:off x="6324600" y="25336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Future Enhancements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5B6A47-B123-43E5-95D4-0D148EBC1325}"/>
              </a:ext>
            </a:extLst>
          </p:cNvPr>
          <p:cNvSpPr>
            <a:spLocks noGrp="1"/>
          </p:cNvSpPr>
          <p:nvPr/>
        </p:nvSpPr>
        <p:spPr>
          <a:xfrm>
            <a:off x="6096000" y="30384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08E663-E1F6-42E3-8DF5-10F13409506D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CF3B49-A451-4AAB-92A7-BECBA01DF1DB}"/>
              </a:ext>
            </a:extLst>
          </p:cNvPr>
          <p:cNvSpPr>
            <a:spLocks noGrp="1"/>
          </p:cNvSpPr>
          <p:nvPr/>
        </p:nvSpPr>
        <p:spPr>
          <a:xfrm>
            <a:off x="6096000" y="34956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9AD8FC-FC26-4930-AC11-EAC17052097E}"/>
              </a:ext>
            </a:extLst>
          </p:cNvPr>
          <p:cNvSpPr>
            <a:spLocks noGrp="1"/>
          </p:cNvSpPr>
          <p:nvPr/>
        </p:nvSpPr>
        <p:spPr>
          <a:xfrm>
            <a:off x="6324600" y="34480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6C93A3-9326-4739-A906-D399789533E5}"/>
              </a:ext>
            </a:extLst>
          </p:cNvPr>
          <p:cNvSpPr>
            <a:spLocks noGrp="1"/>
          </p:cNvSpPr>
          <p:nvPr/>
        </p:nvSpPr>
        <p:spPr>
          <a:xfrm>
            <a:off x="10191750" y="4810125"/>
            <a:ext cx="876300" cy="8763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8520E5-B21F-4400-940E-16A37F0BF64C}"/>
              </a:ext>
            </a:extLst>
          </p:cNvPr>
          <p:cNvSpPr>
            <a:spLocks noGrp="1"/>
          </p:cNvSpPr>
          <p:nvPr/>
        </p:nvSpPr>
        <p:spPr>
          <a:xfrm>
            <a:off x="10420350" y="4981575"/>
            <a:ext cx="419100" cy="323850"/>
          </a:xfrm>
          <a:prstGeom prst="rect">
            <a:avLst/>
          </a:prstGeom>
          <a:solidFill>
            <a:srgbClr val="DDF5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19E0DD-AF87-4F2A-9E7A-7F893A459D16}"/>
              </a:ext>
            </a:extLst>
          </p:cNvPr>
          <p:cNvSpPr>
            <a:spLocks noGrp="1"/>
          </p:cNvSpPr>
          <p:nvPr/>
        </p:nvSpPr>
        <p:spPr>
          <a:xfrm>
            <a:off x="10515600" y="5343525"/>
            <a:ext cx="228600" cy="95250"/>
          </a:xfrm>
          <a:prstGeom prst="rect">
            <a:avLst/>
          </a:prstGeom>
          <a:solidFill>
            <a:srgbClr val="B7C6D8"/>
          </a:solidFill>
          <a:ln w="0">
            <a:solidFill>
              <a:srgbClr val="B7C6D8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0A12A8-E628-4736-9B50-8661D4FB8719}"/>
              </a:ext>
            </a:extLst>
          </p:cNvPr>
          <p:cNvSpPr>
            <a:spLocks noGrp="1"/>
          </p:cNvSpPr>
          <p:nvPr/>
        </p:nvSpPr>
        <p:spPr>
          <a:xfrm>
            <a:off x="10439400" y="5457825"/>
            <a:ext cx="381000" cy="76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A927A2-BBE6-401F-8C53-8A58CFC3EC9B}"/>
              </a:ext>
            </a:extLst>
          </p:cNvPr>
          <p:cNvSpPr>
            <a:spLocks noGrp="1"/>
          </p:cNvSpPr>
          <p:nvPr/>
        </p:nvSpPr>
        <p:spPr>
          <a:xfrm>
            <a:off x="10239375" y="5553075"/>
            <a:ext cx="781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193982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E241B62-11C6-4FE9-A0DE-2FEDC4456E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3C674-24DB-421C-9377-B353D917A881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DC8C1-1958-4A51-A7A4-C31E9A7AD8C3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9C8386-EF2B-485F-B57B-C2212E4B51EE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05F1A-A1E4-435B-A2AC-EE1155874A65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0991A2-C49F-448F-875F-B882E6A438A4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FDD3D8-4BB6-4ACC-BDF4-1FA746F514AC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57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Current Gap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F1DF26-60E2-4930-B50A-12B77C2110FB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77D9C5-9059-48DF-B162-61F66BDD55F8}"/>
              </a:ext>
            </a:extLst>
          </p:cNvPr>
          <p:cNvSpPr>
            <a:spLocks noGrp="1"/>
          </p:cNvSpPr>
          <p:nvPr/>
        </p:nvSpPr>
        <p:spPr>
          <a:xfrm>
            <a:off x="1009650" y="152400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Many chatbot UIs feel plain and do not show personality.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614E6E-505E-47A6-8C78-811B96342A47}"/>
              </a:ext>
            </a:extLst>
          </p:cNvPr>
          <p:cNvSpPr>
            <a:spLocks noGrp="1"/>
          </p:cNvSpPr>
          <p:nvPr/>
        </p:nvSpPr>
        <p:spPr>
          <a:xfrm>
            <a:off x="781050" y="20478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497BF-8F0D-4AA6-AE2B-0768082B2DE3}"/>
              </a:ext>
            </a:extLst>
          </p:cNvPr>
          <p:cNvSpPr>
            <a:spLocks noGrp="1"/>
          </p:cNvSpPr>
          <p:nvPr/>
        </p:nvSpPr>
        <p:spPr>
          <a:xfrm>
            <a:off x="1009650" y="200025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Frontend demos often fail when backend memory is added later.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F373C6-8AC3-4001-8978-757343D8A423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6E4938-401C-4E79-9D59-F80423CCA649}"/>
              </a:ext>
            </a:extLst>
          </p:cNvPr>
          <p:cNvSpPr>
            <a:spLocks noGrp="1"/>
          </p:cNvSpPr>
          <p:nvPr/>
        </p:nvSpPr>
        <p:spPr>
          <a:xfrm>
            <a:off x="1009650" y="247650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Students need a clear bridge between UI, API, database, and AI model.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20E0DD-47E1-4227-9DF9-0CF0D39F7394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7D1ABC-9039-4F7D-81A8-F5D5437711DE}"/>
              </a:ext>
            </a:extLst>
          </p:cNvPr>
          <p:cNvSpPr>
            <a:spLocks noGrp="1"/>
          </p:cNvSpPr>
          <p:nvPr/>
        </p:nvSpPr>
        <p:spPr>
          <a:xfrm>
            <a:off x="1009650" y="295275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Future tools like voice, document search, and web search need a scalable base.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8F1FEF-AE55-4BBA-996F-B691B631439B}"/>
              </a:ext>
            </a:extLst>
          </p:cNvPr>
          <p:cNvSpPr>
            <a:spLocks noGrp="1"/>
          </p:cNvSpPr>
          <p:nvPr/>
        </p:nvSpPr>
        <p:spPr>
          <a:xfrm>
            <a:off x="6667500" y="10668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57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Vision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CD72F5-5047-4959-8567-D1170A522507}"/>
              </a:ext>
            </a:extLst>
          </p:cNvPr>
          <p:cNvSpPr>
            <a:spLocks noGrp="1"/>
          </p:cNvSpPr>
          <p:nvPr/>
        </p:nvSpPr>
        <p:spPr>
          <a:xfrm>
            <a:off x="6781800" y="1571625"/>
            <a:ext cx="95250" cy="952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C03694-1EA0-47C2-B8E4-3FB2B821A271}"/>
              </a:ext>
            </a:extLst>
          </p:cNvPr>
          <p:cNvSpPr>
            <a:spLocks noGrp="1"/>
          </p:cNvSpPr>
          <p:nvPr/>
        </p:nvSpPr>
        <p:spPr>
          <a:xfrm>
            <a:off x="7010400" y="152400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Create a cute pixel companion called Byte-Bot.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9D5AC2-7F69-4224-AEA6-393E9833603B}"/>
              </a:ext>
            </a:extLst>
          </p:cNvPr>
          <p:cNvSpPr>
            <a:spLocks noGrp="1"/>
          </p:cNvSpPr>
          <p:nvPr/>
        </p:nvSpPr>
        <p:spPr>
          <a:xfrm>
            <a:off x="6781800" y="2047875"/>
            <a:ext cx="95250" cy="952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0CC4A6-D2AB-4306-BA0E-1072029F3A2F}"/>
              </a:ext>
            </a:extLst>
          </p:cNvPr>
          <p:cNvSpPr>
            <a:spLocks noGrp="1"/>
          </p:cNvSpPr>
          <p:nvPr/>
        </p:nvSpPr>
        <p:spPr>
          <a:xfrm>
            <a:off x="7010400" y="20002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Keep the UI playful while the backend stays practical.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E03343-FBFA-42E9-8783-BE0FC867DAB7}"/>
              </a:ext>
            </a:extLst>
          </p:cNvPr>
          <p:cNvSpPr>
            <a:spLocks noGrp="1"/>
          </p:cNvSpPr>
          <p:nvPr/>
        </p:nvSpPr>
        <p:spPr>
          <a:xfrm>
            <a:off x="6781800" y="2524125"/>
            <a:ext cx="95250" cy="952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13F732-81E3-41BC-9372-3524CE2B7251}"/>
              </a:ext>
            </a:extLst>
          </p:cNvPr>
          <p:cNvSpPr>
            <a:spLocks noGrp="1"/>
          </p:cNvSpPr>
          <p:nvPr/>
        </p:nvSpPr>
        <p:spPr>
          <a:xfrm>
            <a:off x="7010400" y="247650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Store user sessions and chat memory with MongoDB.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487E84-7361-47E1-9681-63F91DC011AA}"/>
              </a:ext>
            </a:extLst>
          </p:cNvPr>
          <p:cNvSpPr>
            <a:spLocks noGrp="1"/>
          </p:cNvSpPr>
          <p:nvPr/>
        </p:nvSpPr>
        <p:spPr>
          <a:xfrm>
            <a:off x="6781800" y="3000375"/>
            <a:ext cx="95250" cy="952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8C11F1-5F3E-43A7-9C8F-B089F56F2FEF}"/>
              </a:ext>
            </a:extLst>
          </p:cNvPr>
          <p:cNvSpPr>
            <a:spLocks noGrp="1"/>
          </p:cNvSpPr>
          <p:nvPr/>
        </p:nvSpPr>
        <p:spPr>
          <a:xfrm>
            <a:off x="7010400" y="29527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Grow toward RAG, TTS, STT, and assistant tools step by step.</a:t>
            </a:r>
          </a:p>
        </p:txBody>
      </p:sp>
    </p:spTree>
    <p:extLst>
      <p:ext uri="{BB962C8B-B14F-4D97-AF65-F5344CB8AC3E}">
        <p14:creationId xmlns:p14="http://schemas.microsoft.com/office/powerpoint/2010/main" val="1102193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0E08E42-A277-4E05-B055-53EA46F0DE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EADEB4-2D89-4E3C-B90A-B12BCC6C57A1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F16B8F-3AB3-4261-B1FC-44C27087E6BA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4906FA-70B3-4E56-8494-C7D622A2BA9D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C5BE54-4154-49AD-9DDA-92B4D0DA7C2F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9CC375-84DC-433A-9C10-75FE0D82F88C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A623E-586F-4B52-9323-8B0777FD9644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57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The main problem this project solves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6900EE-05CB-4867-89BE-752E5D80E9FB}"/>
              </a:ext>
            </a:extLst>
          </p:cNvPr>
          <p:cNvSpPr>
            <a:spLocks noGrp="1"/>
          </p:cNvSpPr>
          <p:nvPr/>
        </p:nvSpPr>
        <p:spPr>
          <a:xfrm>
            <a:off x="838200" y="17049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FFAE5F-22B8-48B5-BD2C-C665762DF195}"/>
              </a:ext>
            </a:extLst>
          </p:cNvPr>
          <p:cNvSpPr>
            <a:spLocks noGrp="1"/>
          </p:cNvSpPr>
          <p:nvPr/>
        </p:nvSpPr>
        <p:spPr>
          <a:xfrm>
            <a:off x="1066800" y="1657350"/>
            <a:ext cx="605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 chatbot without backend connection cannot become a real product.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A4C20C-529B-4010-833A-DE714804AE77}"/>
              </a:ext>
            </a:extLst>
          </p:cNvPr>
          <p:cNvSpPr>
            <a:spLocks noGrp="1"/>
          </p:cNvSpPr>
          <p:nvPr/>
        </p:nvSpPr>
        <p:spPr>
          <a:xfrm>
            <a:off x="838200" y="22002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33A3A3-C749-497D-AA86-13B8FFF987BC}"/>
              </a:ext>
            </a:extLst>
          </p:cNvPr>
          <p:cNvSpPr>
            <a:spLocks noGrp="1"/>
          </p:cNvSpPr>
          <p:nvPr/>
        </p:nvSpPr>
        <p:spPr>
          <a:xfrm>
            <a:off x="1066800" y="2152650"/>
            <a:ext cx="605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 chatbot without memory forgets the user after every message.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7374B6-F7D1-40F6-83EF-2908851BDE43}"/>
              </a:ext>
            </a:extLst>
          </p:cNvPr>
          <p:cNvSpPr>
            <a:spLocks noGrp="1"/>
          </p:cNvSpPr>
          <p:nvPr/>
        </p:nvSpPr>
        <p:spPr>
          <a:xfrm>
            <a:off x="838200" y="26955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795E59-D45D-4DA9-8ADA-FB2B98E3E522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605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 plain interface gives no emotional identity to the assistant.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F08C79-A007-4DC6-8601-2448F76C1B97}"/>
              </a:ext>
            </a:extLst>
          </p:cNvPr>
          <p:cNvSpPr>
            <a:spLocks noGrp="1"/>
          </p:cNvSpPr>
          <p:nvPr/>
        </p:nvSpPr>
        <p:spPr>
          <a:xfrm>
            <a:off x="838200" y="31908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02E706-5F5B-48D5-9265-CD243C38961C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605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Manual testing becomes confusing when frontend and backend are separate.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F5A166-334F-4031-9690-C6A7DE905AF1}"/>
              </a:ext>
            </a:extLst>
          </p:cNvPr>
          <p:cNvSpPr>
            <a:spLocks noGrp="1"/>
          </p:cNvSpPr>
          <p:nvPr/>
        </p:nvSpPr>
        <p:spPr>
          <a:xfrm>
            <a:off x="838200" y="36861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F1E3E8-4054-4372-BDE2-050E8E347780}"/>
              </a:ext>
            </a:extLst>
          </p:cNvPr>
          <p:cNvSpPr>
            <a:spLocks noGrp="1"/>
          </p:cNvSpPr>
          <p:nvPr/>
        </p:nvSpPr>
        <p:spPr>
          <a:xfrm>
            <a:off x="1066800" y="3638550"/>
            <a:ext cx="605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Deployment needs clean configuration, database setup, and documentation.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365D84-861A-4E2F-AD65-6A76670D07D0}"/>
              </a:ext>
            </a:extLst>
          </p:cNvPr>
          <p:cNvSpPr>
            <a:spLocks noGrp="1"/>
          </p:cNvSpPr>
          <p:nvPr/>
        </p:nvSpPr>
        <p:spPr>
          <a:xfrm>
            <a:off x="7620000" y="1619250"/>
            <a:ext cx="3238500" cy="219075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0DD69E-18E2-471B-AF53-728D2BD13006}"/>
              </a:ext>
            </a:extLst>
          </p:cNvPr>
          <p:cNvSpPr>
            <a:spLocks noGrp="1"/>
          </p:cNvSpPr>
          <p:nvPr/>
        </p:nvSpPr>
        <p:spPr>
          <a:xfrm>
            <a:off x="7791450" y="17526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Project Need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A6FBEC-E5B1-439C-9A2B-8669DBEF0084}"/>
              </a:ext>
            </a:extLst>
          </p:cNvPr>
          <p:cNvSpPr>
            <a:spLocks noGrp="1"/>
          </p:cNvSpPr>
          <p:nvPr/>
        </p:nvSpPr>
        <p:spPr>
          <a:xfrm>
            <a:off x="7791450" y="2076450"/>
            <a:ext cx="28956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Byte-Bot combines a friendly interface with a real backend path, so the demo can grow into a usable AI assistant.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CB0E50-EE1E-4D51-8147-A3404E730D27}"/>
              </a:ext>
            </a:extLst>
          </p:cNvPr>
          <p:cNvSpPr>
            <a:spLocks noGrp="1"/>
          </p:cNvSpPr>
          <p:nvPr/>
        </p:nvSpPr>
        <p:spPr>
          <a:xfrm>
            <a:off x="8810625" y="4143375"/>
            <a:ext cx="828675" cy="5334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C712A4-210E-4E19-A56B-6B47DB15C45A}"/>
              </a:ext>
            </a:extLst>
          </p:cNvPr>
          <p:cNvSpPr>
            <a:spLocks noGrp="1"/>
          </p:cNvSpPr>
          <p:nvPr/>
        </p:nvSpPr>
        <p:spPr>
          <a:xfrm>
            <a:off x="9039225" y="4314825"/>
            <a:ext cx="419100" cy="323850"/>
          </a:xfrm>
          <a:prstGeom prst="rect">
            <a:avLst/>
          </a:prstGeom>
          <a:solidFill>
            <a:srgbClr val="DDF5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3072D7-2291-4D5C-940C-E788E626FF35}"/>
              </a:ext>
            </a:extLst>
          </p:cNvPr>
          <p:cNvSpPr>
            <a:spLocks noGrp="1"/>
          </p:cNvSpPr>
          <p:nvPr/>
        </p:nvSpPr>
        <p:spPr>
          <a:xfrm>
            <a:off x="9134475" y="4676775"/>
            <a:ext cx="228600" cy="95250"/>
          </a:xfrm>
          <a:prstGeom prst="rect">
            <a:avLst/>
          </a:prstGeom>
          <a:solidFill>
            <a:srgbClr val="B7C6D8"/>
          </a:solidFill>
          <a:ln w="0">
            <a:solidFill>
              <a:srgbClr val="B7C6D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E56977-0EF6-4735-AD5C-E6B4F7071683}"/>
              </a:ext>
            </a:extLst>
          </p:cNvPr>
          <p:cNvSpPr>
            <a:spLocks noGrp="1"/>
          </p:cNvSpPr>
          <p:nvPr/>
        </p:nvSpPr>
        <p:spPr>
          <a:xfrm>
            <a:off x="9058275" y="4791075"/>
            <a:ext cx="381000" cy="76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68B454-2A10-45DB-B591-4DE7F7484BA9}"/>
              </a:ext>
            </a:extLst>
          </p:cNvPr>
          <p:cNvSpPr>
            <a:spLocks noGrp="1"/>
          </p:cNvSpPr>
          <p:nvPr/>
        </p:nvSpPr>
        <p:spPr>
          <a:xfrm>
            <a:off x="8858250" y="4886325"/>
            <a:ext cx="781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BOT</a:t>
            </a:r>
          </a:p>
        </p:txBody>
      </p:sp>
    </p:spTree>
    <p:extLst>
      <p:ext uri="{BB962C8B-B14F-4D97-AF65-F5344CB8AC3E}">
        <p14:creationId xmlns:p14="http://schemas.microsoft.com/office/powerpoint/2010/main" val="50486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3BACA94-A487-44FD-86AC-D957116492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E7C3D-6D51-492F-9485-935F33CA44B6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D9E206-7F93-4D9D-AF47-624F43E017AE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A06100-42ED-4DFD-8B45-B2BE4AF7D363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0D99D0-4B75-4AB7-A166-A329BD682014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87689A-460F-463B-B6E4-DD6AFF09CBA9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212C72-FA67-4B2B-9CBC-6EA5E584290B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3143250" cy="17145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2F94A5-78AA-40D8-88AC-6872E7EB42BB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User Focus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304AD-6C70-4544-9B42-EDCBFE4EB7C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28003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Make the chatbot easy to use, visually friendly, and simple enough for a beginner to understand.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CB052C-A27A-4762-8582-1A75906F352E}"/>
              </a:ext>
            </a:extLst>
          </p:cNvPr>
          <p:cNvSpPr>
            <a:spLocks noGrp="1"/>
          </p:cNvSpPr>
          <p:nvPr/>
        </p:nvSpPr>
        <p:spPr>
          <a:xfrm>
            <a:off x="4524375" y="1219200"/>
            <a:ext cx="3143250" cy="17145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8861FF-3792-4F39-A324-A1B742C6EFFD}"/>
              </a:ext>
            </a:extLst>
          </p:cNvPr>
          <p:cNvSpPr>
            <a:spLocks noGrp="1"/>
          </p:cNvSpPr>
          <p:nvPr/>
        </p:nvSpPr>
        <p:spPr>
          <a:xfrm>
            <a:off x="4695825" y="135255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System Focus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64A6EB-3E7C-4A99-BB1A-DC48256A0F3E}"/>
              </a:ext>
            </a:extLst>
          </p:cNvPr>
          <p:cNvSpPr>
            <a:spLocks noGrp="1"/>
          </p:cNvSpPr>
          <p:nvPr/>
        </p:nvSpPr>
        <p:spPr>
          <a:xfrm>
            <a:off x="4695825" y="1676400"/>
            <a:ext cx="28003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Connect frontend, FastAPI backend, Groq/LangChain, and MongoDB without breaking the UI.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D441F3-DF94-4D0E-902B-2B73B173CCCA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3143250" cy="17145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2240B8-832B-4048-9EF5-C88B9960219C}"/>
              </a:ext>
            </a:extLst>
          </p:cNvPr>
          <p:cNvSpPr>
            <a:spLocks noGrp="1"/>
          </p:cNvSpPr>
          <p:nvPr/>
        </p:nvSpPr>
        <p:spPr>
          <a:xfrm>
            <a:off x="8553450" y="135255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Functional Focus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412D79-AE75-45AE-81CB-D1BA300A246B}"/>
              </a:ext>
            </a:extLst>
          </p:cNvPr>
          <p:cNvSpPr>
            <a:spLocks noGrp="1"/>
          </p:cNvSpPr>
          <p:nvPr/>
        </p:nvSpPr>
        <p:spPr>
          <a:xfrm>
            <a:off x="8553450" y="1676400"/>
            <a:ext cx="28003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Support chat, registration, login, memory, reset, and a roadmap for future document and voice tools.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3A29C-DCB5-481B-9DEF-D1E43E1D6EBA}"/>
              </a:ext>
            </a:extLst>
          </p:cNvPr>
          <p:cNvSpPr>
            <a:spLocks noGrp="1"/>
          </p:cNvSpPr>
          <p:nvPr/>
        </p:nvSpPr>
        <p:spPr>
          <a:xfrm>
            <a:off x="1381125" y="3762375"/>
            <a:ext cx="95250" cy="952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E9901-AB28-4119-ACCF-3C4EA16332CA}"/>
              </a:ext>
            </a:extLst>
          </p:cNvPr>
          <p:cNvSpPr>
            <a:spLocks noGrp="1"/>
          </p:cNvSpPr>
          <p:nvPr/>
        </p:nvSpPr>
        <p:spPr>
          <a:xfrm>
            <a:off x="1609725" y="3714750"/>
            <a:ext cx="920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Keep the project modular.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D257EB-80D6-4A40-BDA0-AA8C51706D33}"/>
              </a:ext>
            </a:extLst>
          </p:cNvPr>
          <p:cNvSpPr>
            <a:spLocks noGrp="1"/>
          </p:cNvSpPr>
          <p:nvPr/>
        </p:nvSpPr>
        <p:spPr>
          <a:xfrm>
            <a:off x="1381125" y="4219575"/>
            <a:ext cx="95250" cy="952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395846-8970-4BFD-8068-6364193B7ED8}"/>
              </a:ext>
            </a:extLst>
          </p:cNvPr>
          <p:cNvSpPr>
            <a:spLocks noGrp="1"/>
          </p:cNvSpPr>
          <p:nvPr/>
        </p:nvSpPr>
        <p:spPr>
          <a:xfrm>
            <a:off x="1609725" y="4171950"/>
            <a:ext cx="920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Document each major file and workflow.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301BC1-7893-465A-9707-099A4F985EA7}"/>
              </a:ext>
            </a:extLst>
          </p:cNvPr>
          <p:cNvSpPr>
            <a:spLocks noGrp="1"/>
          </p:cNvSpPr>
          <p:nvPr/>
        </p:nvSpPr>
        <p:spPr>
          <a:xfrm>
            <a:off x="1381125" y="4676775"/>
            <a:ext cx="95250" cy="952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5CB4B4-3670-4736-904D-129A70FFB862}"/>
              </a:ext>
            </a:extLst>
          </p:cNvPr>
          <p:cNvSpPr>
            <a:spLocks noGrp="1"/>
          </p:cNvSpPr>
          <p:nvPr/>
        </p:nvSpPr>
        <p:spPr>
          <a:xfrm>
            <a:off x="1609725" y="4629150"/>
            <a:ext cx="920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Prepare the app for hosting and future AI features.</a:t>
            </a:r>
          </a:p>
        </p:txBody>
      </p:sp>
    </p:spTree>
    <p:extLst>
      <p:ext uri="{BB962C8B-B14F-4D97-AF65-F5344CB8AC3E}">
        <p14:creationId xmlns:p14="http://schemas.microsoft.com/office/powerpoint/2010/main" val="143441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014CFC4-22DF-480B-9C9D-EA56D4DA00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35FC50-43B4-4A34-86CB-F3752BA4556F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SOLUTION / PROPOSED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C127A0-C5F5-438E-B0FB-956E7D1217F4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25358D-5984-4573-A685-1A87FA958AB1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0D3E44-E0CF-41FE-BD70-BE1EFEB859CA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F090F1-6300-41B7-A501-E676C5CFEAB5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38610C-3D30-4FA4-8EC1-286D3B76E395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57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Byte-Bot proposed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7DD66F-8685-4845-8F00-798D7E3516A0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3429000" cy="11430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07549A-D23E-404A-ACDE-407BC96F031F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Pixel Chat UI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F14B6-E4D9-4176-8572-8C51F06B0684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3086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 themed chatbot page with mascot animation, status bar, and clean chat controls.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8EAE96-3E02-4282-87A6-7718DA2ED0F6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3429000" cy="11430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EECAB-9DF7-4702-B470-7CB26534AAA4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FastAPI Backend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4F1F0E-F30B-4EE4-ADE0-8B841050A1E6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3086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 Python API receives messages, handles routes, and connects the frontend to AI logic.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08DCB3-A7B5-43FE-8150-0A07493A2D58}"/>
              </a:ext>
            </a:extLst>
          </p:cNvPr>
          <p:cNvSpPr>
            <a:spLocks noGrp="1"/>
          </p:cNvSpPr>
          <p:nvPr/>
        </p:nvSpPr>
        <p:spPr>
          <a:xfrm>
            <a:off x="666750" y="4419600"/>
            <a:ext cx="3429000" cy="11430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DDF541-2B41-4323-B074-4FB68C3E1CB5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MongoDB Memory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ACA800-CFB2-46D0-9820-C66443E1F62D}"/>
              </a:ext>
            </a:extLst>
          </p:cNvPr>
          <p:cNvSpPr>
            <a:spLocks noGrp="1"/>
          </p:cNvSpPr>
          <p:nvPr/>
        </p:nvSpPr>
        <p:spPr>
          <a:xfrm>
            <a:off x="838200" y="4876800"/>
            <a:ext cx="3086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Registration and conversation memory can be stored by user/session for persistence.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286987-2CBA-4D4E-A6DA-2ECFB85FAA0C}"/>
              </a:ext>
            </a:extLst>
          </p:cNvPr>
          <p:cNvSpPr>
            <a:spLocks noGrp="1"/>
          </p:cNvSpPr>
          <p:nvPr/>
        </p:nvSpPr>
        <p:spPr>
          <a:xfrm>
            <a:off x="4857750" y="1524000"/>
            <a:ext cx="3429000" cy="11430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E5A476-B87C-4FE2-9860-265D94188675}"/>
              </a:ext>
            </a:extLst>
          </p:cNvPr>
          <p:cNvSpPr>
            <a:spLocks noGrp="1"/>
          </p:cNvSpPr>
          <p:nvPr/>
        </p:nvSpPr>
        <p:spPr>
          <a:xfrm>
            <a:off x="5029200" y="1657350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Groq + LangChain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6CF83-AE1F-488F-A1DA-50389CC2A4E7}"/>
              </a:ext>
            </a:extLst>
          </p:cNvPr>
          <p:cNvSpPr>
            <a:spLocks noGrp="1"/>
          </p:cNvSpPr>
          <p:nvPr/>
        </p:nvSpPr>
        <p:spPr>
          <a:xfrm>
            <a:off x="5029200" y="1981200"/>
            <a:ext cx="3086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LangChain controls prompt structure while Groq generates fast chatbot responses.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5533AE-6ECD-4220-8B42-1226B514543B}"/>
              </a:ext>
            </a:extLst>
          </p:cNvPr>
          <p:cNvSpPr>
            <a:spLocks noGrp="1"/>
          </p:cNvSpPr>
          <p:nvPr/>
        </p:nvSpPr>
        <p:spPr>
          <a:xfrm>
            <a:off x="4857750" y="2971800"/>
            <a:ext cx="3429000" cy="11430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E23317-84B8-4871-804F-7E5558662982}"/>
              </a:ext>
            </a:extLst>
          </p:cNvPr>
          <p:cNvSpPr>
            <a:spLocks noGrp="1"/>
          </p:cNvSpPr>
          <p:nvPr/>
        </p:nvSpPr>
        <p:spPr>
          <a:xfrm>
            <a:off x="5029200" y="3105150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Future Tools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6CEE9F-4EAB-4992-A26D-31C0CCBE5E7B}"/>
              </a:ext>
            </a:extLst>
          </p:cNvPr>
          <p:cNvSpPr>
            <a:spLocks noGrp="1"/>
          </p:cNvSpPr>
          <p:nvPr/>
        </p:nvSpPr>
        <p:spPr>
          <a:xfrm>
            <a:off x="5029200" y="3429000"/>
            <a:ext cx="3086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PDF, image, web search, STT, TTS, and local RAG can be added without rewriting the UI.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10625" y="226695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3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95A7493-6BF8-4ECF-89F4-AD133CF6F3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654920-CA18-48D8-8493-82C007DA564F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FECF1-F0CB-4027-B11F-22968699CCAC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F4B04-4F5E-4FBE-8B96-DB704C129BFE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A5B31-B1AF-4F62-A84E-AC4DF6FDBBB7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E59014-16C9-406F-A87B-BA0786991453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324C4C-484D-4CBC-A561-A27E7AC13845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57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Architecture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2725BF-FC84-4314-8821-6126FA6F8D11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1333500" cy="742950"/>
          </a:xfrm>
          <a:prstGeom prst="rect">
            <a:avLst/>
          </a:prstGeom>
          <a:solidFill>
            <a:srgbClr val="EAF3FF"/>
          </a:solidFill>
          <a:ln w="16193">
            <a:solidFill>
              <a:srgbClr val="1F4E7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2627FF-3086-41B2-9D75-595060572BB3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A1F4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A1F44"/>
                </a:solidFill>
                <a:latin typeface="Calibri"/>
                <a:ea typeface="Calibri"/>
                <a:cs typeface="Calibri"/>
              </a:rPr>
              <a:t>User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4B8C76-8B1F-4970-AFFF-EC6CA85F9D79}"/>
              </a:ext>
            </a:extLst>
          </p:cNvPr>
          <p:cNvSpPr>
            <a:spLocks noGrp="1"/>
          </p:cNvSpPr>
          <p:nvPr/>
        </p:nvSpPr>
        <p:spPr>
          <a:xfrm>
            <a:off x="2209800" y="308610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A5D360-DFAE-4E03-BA07-C26117B010B0}"/>
              </a:ext>
            </a:extLst>
          </p:cNvPr>
          <p:cNvSpPr>
            <a:spLocks noGrp="1"/>
          </p:cNvSpPr>
          <p:nvPr/>
        </p:nvSpPr>
        <p:spPr>
          <a:xfrm>
            <a:off x="2667000" y="2905125"/>
            <a:ext cx="1333500" cy="742950"/>
          </a:xfrm>
          <a:prstGeom prst="rect">
            <a:avLst/>
          </a:prstGeom>
          <a:solidFill>
            <a:srgbClr val="FFF8D8"/>
          </a:solidFill>
          <a:ln w="16193">
            <a:solidFill>
              <a:srgbClr val="1F4E7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87D33A-DCFC-4DD9-A003-49F857D91A4F}"/>
              </a:ext>
            </a:extLst>
          </p:cNvPr>
          <p:cNvSpPr>
            <a:spLocks noGrp="1"/>
          </p:cNvSpPr>
          <p:nvPr/>
        </p:nvSpPr>
        <p:spPr>
          <a:xfrm>
            <a:off x="2762250" y="30861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A1F4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A1F44"/>
                </a:solidFill>
                <a:latin typeface="Calibri"/>
                <a:ea typeface="Calibri"/>
                <a:cs typeface="Calibri"/>
              </a:rPr>
              <a:t>Frontend UI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B6CEA5-A8C2-480F-9B56-00754E38FCDB}"/>
              </a:ext>
            </a:extLst>
          </p:cNvPr>
          <p:cNvSpPr>
            <a:spLocks noGrp="1"/>
          </p:cNvSpPr>
          <p:nvPr/>
        </p:nvSpPr>
        <p:spPr>
          <a:xfrm>
            <a:off x="4114800" y="308610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15DEF1-EB0B-4606-80B0-04A2965BA4F9}"/>
              </a:ext>
            </a:extLst>
          </p:cNvPr>
          <p:cNvSpPr>
            <a:spLocks noGrp="1"/>
          </p:cNvSpPr>
          <p:nvPr/>
        </p:nvSpPr>
        <p:spPr>
          <a:xfrm>
            <a:off x="4572000" y="2905125"/>
            <a:ext cx="1333500" cy="742950"/>
          </a:xfrm>
          <a:prstGeom prst="rect">
            <a:avLst/>
          </a:prstGeom>
          <a:solidFill>
            <a:srgbClr val="EAF3FF"/>
          </a:solidFill>
          <a:ln w="16193">
            <a:solidFill>
              <a:srgbClr val="1F4E7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7CC32F-5854-4403-929D-4F5C8D199047}"/>
              </a:ext>
            </a:extLst>
          </p:cNvPr>
          <p:cNvSpPr>
            <a:spLocks noGrp="1"/>
          </p:cNvSpPr>
          <p:nvPr/>
        </p:nvSpPr>
        <p:spPr>
          <a:xfrm>
            <a:off x="4667250" y="30861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A1F4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A1F44"/>
                </a:solidFill>
                <a:latin typeface="Calibri"/>
                <a:ea typeface="Calibri"/>
                <a:cs typeface="Calibri"/>
              </a:rPr>
              <a:t>FastAPI Backend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A6776D-8BCD-4806-8565-40DEE89462F2}"/>
              </a:ext>
            </a:extLst>
          </p:cNvPr>
          <p:cNvSpPr>
            <a:spLocks noGrp="1"/>
          </p:cNvSpPr>
          <p:nvPr/>
        </p:nvSpPr>
        <p:spPr>
          <a:xfrm>
            <a:off x="6019800" y="308610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C1AA8D-4898-490D-9FDE-0B5D243B82E4}"/>
              </a:ext>
            </a:extLst>
          </p:cNvPr>
          <p:cNvSpPr>
            <a:spLocks noGrp="1"/>
          </p:cNvSpPr>
          <p:nvPr/>
        </p:nvSpPr>
        <p:spPr>
          <a:xfrm>
            <a:off x="6572250" y="2905125"/>
            <a:ext cx="1333500" cy="742950"/>
          </a:xfrm>
          <a:prstGeom prst="rect">
            <a:avLst/>
          </a:prstGeom>
          <a:solidFill>
            <a:srgbClr val="FFF8D8"/>
          </a:solidFill>
          <a:ln w="16193">
            <a:solidFill>
              <a:srgbClr val="1F4E7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D09D82-BC11-44A1-B442-EBBF7EFD6572}"/>
              </a:ext>
            </a:extLst>
          </p:cNvPr>
          <p:cNvSpPr>
            <a:spLocks noGrp="1"/>
          </p:cNvSpPr>
          <p:nvPr/>
        </p:nvSpPr>
        <p:spPr>
          <a:xfrm>
            <a:off x="6667500" y="30861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A1F4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A1F44"/>
                </a:solidFill>
                <a:latin typeface="Calibri"/>
                <a:ea typeface="Calibri"/>
                <a:cs typeface="Calibri"/>
              </a:rPr>
              <a:t>LLM + Tools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DB4B10-3641-4AAD-A463-0E9C53C69C8C}"/>
              </a:ext>
            </a:extLst>
          </p:cNvPr>
          <p:cNvSpPr>
            <a:spLocks noGrp="1"/>
          </p:cNvSpPr>
          <p:nvPr/>
        </p:nvSpPr>
        <p:spPr>
          <a:xfrm>
            <a:off x="8020050" y="308610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A1FC5D-B159-4FCE-A3E8-EF3BF39F7835}"/>
              </a:ext>
            </a:extLst>
          </p:cNvPr>
          <p:cNvSpPr>
            <a:spLocks noGrp="1"/>
          </p:cNvSpPr>
          <p:nvPr/>
        </p:nvSpPr>
        <p:spPr>
          <a:xfrm>
            <a:off x="8477250" y="2905125"/>
            <a:ext cx="1333500" cy="742950"/>
          </a:xfrm>
          <a:prstGeom prst="rect">
            <a:avLst/>
          </a:prstGeom>
          <a:solidFill>
            <a:srgbClr val="EAF3FF"/>
          </a:solidFill>
          <a:ln w="16193">
            <a:solidFill>
              <a:srgbClr val="1F4E7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6A9086-59FF-4047-895E-D718D4DEEE53}"/>
              </a:ext>
            </a:extLst>
          </p:cNvPr>
          <p:cNvSpPr>
            <a:spLocks noGrp="1"/>
          </p:cNvSpPr>
          <p:nvPr/>
        </p:nvSpPr>
        <p:spPr>
          <a:xfrm>
            <a:off x="8572500" y="30861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A1F4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A1F44"/>
                </a:solidFill>
                <a:latin typeface="Calibri"/>
                <a:ea typeface="Calibri"/>
                <a:cs typeface="Calibri"/>
              </a:rPr>
              <a:t>Database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545BB3-F4DA-4884-9660-5A336636247E}"/>
              </a:ext>
            </a:extLst>
          </p:cNvPr>
          <p:cNvSpPr>
            <a:spLocks noGrp="1"/>
          </p:cNvSpPr>
          <p:nvPr/>
        </p:nvSpPr>
        <p:spPr>
          <a:xfrm>
            <a:off x="9925050" y="308610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3589C-1DF2-4112-998D-F4C708C923E0}"/>
              </a:ext>
            </a:extLst>
          </p:cNvPr>
          <p:cNvSpPr>
            <a:spLocks noGrp="1"/>
          </p:cNvSpPr>
          <p:nvPr/>
        </p:nvSpPr>
        <p:spPr>
          <a:xfrm>
            <a:off x="10382250" y="2905125"/>
            <a:ext cx="1333500" cy="742950"/>
          </a:xfrm>
          <a:prstGeom prst="rect">
            <a:avLst/>
          </a:prstGeom>
          <a:solidFill>
            <a:srgbClr val="FFF8D8"/>
          </a:solidFill>
          <a:ln w="16193">
            <a:solidFill>
              <a:srgbClr val="1F4E7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472E5A-A540-42C8-BBB8-1F7FD6B7A8BC}"/>
              </a:ext>
            </a:extLst>
          </p:cNvPr>
          <p:cNvSpPr>
            <a:spLocks noGrp="1"/>
          </p:cNvSpPr>
          <p:nvPr/>
        </p:nvSpPr>
        <p:spPr>
          <a:xfrm>
            <a:off x="10477500" y="30861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A1F4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A1F44"/>
                </a:solidFill>
                <a:latin typeface="Calibri"/>
                <a:ea typeface="Calibri"/>
                <a:cs typeface="Calibri"/>
              </a:rPr>
              <a:t>Bot Reply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216620-83DA-4B96-B69E-13DBB4450B52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1009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The user interacts with the HTML/CSS/JS interface. The frontend sends JSON requests to FastAPI. FastAPI calls LangChain/Groq and stores or reads user/session data from MongoDB.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F66495-6EC2-4ACE-8611-BA2AF19FF6DE}"/>
              </a:ext>
            </a:extLst>
          </p:cNvPr>
          <p:cNvSpPr>
            <a:spLocks noGrp="1"/>
          </p:cNvSpPr>
          <p:nvPr/>
        </p:nvSpPr>
        <p:spPr>
          <a:xfrm>
            <a:off x="2047875" y="5334000"/>
            <a:ext cx="809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650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User -&gt; Interface -&gt; Processing -&gt; Database / Model -&gt; Output</a:t>
            </a:r>
          </a:p>
        </p:txBody>
      </p:sp>
    </p:spTree>
    <p:extLst>
      <p:ext uri="{BB962C8B-B14F-4D97-AF65-F5344CB8AC3E}">
        <p14:creationId xmlns:p14="http://schemas.microsoft.com/office/powerpoint/2010/main" val="130136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547AE30-A3B1-4BB4-AD85-D331BBD46B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6587EE-7F6D-46EE-808E-13E1E3921BC1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TECHNOLOGIES USED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5AB81D-94CC-42BE-969A-5A476512E861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3CCB8C-C25F-45AC-840D-A24BF6756001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5B585C-55E9-4783-A4E4-34BA633AF922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35A876-4544-49D6-A492-2D963ED3C321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D122D6-4D08-4706-8940-986B4880E225}"/>
              </a:ext>
            </a:extLst>
          </p:cNvPr>
          <p:cNvSpPr>
            <a:spLocks noGrp="1"/>
          </p:cNvSpPr>
          <p:nvPr/>
        </p:nvSpPr>
        <p:spPr>
          <a:xfrm>
            <a:off x="762000" y="1190625"/>
            <a:ext cx="4762500" cy="9525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F0A7BB-2542-4A43-9795-73BA1249B08E}"/>
              </a:ext>
            </a:extLst>
          </p:cNvPr>
          <p:cNvSpPr>
            <a:spLocks noGrp="1"/>
          </p:cNvSpPr>
          <p:nvPr/>
        </p:nvSpPr>
        <p:spPr>
          <a:xfrm>
            <a:off x="933450" y="132397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Frontend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B81FD6-0C50-4C47-B736-E5B9A6CA3852}"/>
              </a:ext>
            </a:extLst>
          </p:cNvPr>
          <p:cNvSpPr>
            <a:spLocks noGrp="1"/>
          </p:cNvSpPr>
          <p:nvPr/>
        </p:nvSpPr>
        <p:spPr>
          <a:xfrm>
            <a:off x="933450" y="1647825"/>
            <a:ext cx="441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HTML, CSS, JavaScript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35C69-5ACF-48C6-AC29-77611FE09BAD}"/>
              </a:ext>
            </a:extLst>
          </p:cNvPr>
          <p:cNvSpPr>
            <a:spLocks noGrp="1"/>
          </p:cNvSpPr>
          <p:nvPr/>
        </p:nvSpPr>
        <p:spPr>
          <a:xfrm>
            <a:off x="6381750" y="1190625"/>
            <a:ext cx="4762500" cy="9525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2CE836-739A-4BF6-8108-FE2F43C1D0B9}"/>
              </a:ext>
            </a:extLst>
          </p:cNvPr>
          <p:cNvSpPr>
            <a:spLocks noGrp="1"/>
          </p:cNvSpPr>
          <p:nvPr/>
        </p:nvSpPr>
        <p:spPr>
          <a:xfrm>
            <a:off x="6553200" y="132397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Backend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6E9C46-D94F-415B-A108-F024FC5ACBF8}"/>
              </a:ext>
            </a:extLst>
          </p:cNvPr>
          <p:cNvSpPr>
            <a:spLocks noGrp="1"/>
          </p:cNvSpPr>
          <p:nvPr/>
        </p:nvSpPr>
        <p:spPr>
          <a:xfrm>
            <a:off x="6553200" y="1647825"/>
            <a:ext cx="441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Python, FastAPI, Uvicorn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5C7163-3B85-4174-AD07-38F133960D4F}"/>
              </a:ext>
            </a:extLst>
          </p:cNvPr>
          <p:cNvSpPr>
            <a:spLocks noGrp="1"/>
          </p:cNvSpPr>
          <p:nvPr/>
        </p:nvSpPr>
        <p:spPr>
          <a:xfrm>
            <a:off x="762000" y="2600325"/>
            <a:ext cx="4762500" cy="9525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DD352C-155D-4C1F-BAC0-A4F7F6AF2D74}"/>
              </a:ext>
            </a:extLst>
          </p:cNvPr>
          <p:cNvSpPr>
            <a:spLocks noGrp="1"/>
          </p:cNvSpPr>
          <p:nvPr/>
        </p:nvSpPr>
        <p:spPr>
          <a:xfrm>
            <a:off x="933450" y="273367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Database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53EF1-AEEF-441A-8332-799476CEB77D}"/>
              </a:ext>
            </a:extLst>
          </p:cNvPr>
          <p:cNvSpPr>
            <a:spLocks noGrp="1"/>
          </p:cNvSpPr>
          <p:nvPr/>
        </p:nvSpPr>
        <p:spPr>
          <a:xfrm>
            <a:off x="933450" y="3057525"/>
            <a:ext cx="441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MongoDB Atlas with SQLite fallback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E0D28E-8F4E-459C-A879-A4BF7FFCC2F5}"/>
              </a:ext>
            </a:extLst>
          </p:cNvPr>
          <p:cNvSpPr>
            <a:spLocks noGrp="1"/>
          </p:cNvSpPr>
          <p:nvPr/>
        </p:nvSpPr>
        <p:spPr>
          <a:xfrm>
            <a:off x="6381750" y="2600325"/>
            <a:ext cx="4762500" cy="9525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74FBD4-9979-4E29-AA02-4F59FF5017B4}"/>
              </a:ext>
            </a:extLst>
          </p:cNvPr>
          <p:cNvSpPr>
            <a:spLocks noGrp="1"/>
          </p:cNvSpPr>
          <p:nvPr/>
        </p:nvSpPr>
        <p:spPr>
          <a:xfrm>
            <a:off x="6553200" y="273367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AI Framework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4714B-D0DD-4868-82D1-1AD33A65F34C}"/>
              </a:ext>
            </a:extLst>
          </p:cNvPr>
          <p:cNvSpPr>
            <a:spLocks noGrp="1"/>
          </p:cNvSpPr>
          <p:nvPr/>
        </p:nvSpPr>
        <p:spPr>
          <a:xfrm>
            <a:off x="6553200" y="3057525"/>
            <a:ext cx="441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LangChain prompt orchestration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910D62-5332-49B2-BE29-2ED5E5AE3022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4762500" cy="9525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A56B5-E7CE-4FB6-B82E-C7F5B2946507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LLM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462558-A589-4CFC-85BD-CF5935757CE4}"/>
              </a:ext>
            </a:extLst>
          </p:cNvPr>
          <p:cNvSpPr>
            <a:spLocks noGrp="1"/>
          </p:cNvSpPr>
          <p:nvPr/>
        </p:nvSpPr>
        <p:spPr>
          <a:xfrm>
            <a:off x="933450" y="4467225"/>
            <a:ext cx="441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Groq chat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ECEB14-C6C1-4C7D-AB93-C88FAB0CCFED}"/>
              </a:ext>
            </a:extLst>
          </p:cNvPr>
          <p:cNvSpPr>
            <a:spLocks noGrp="1"/>
          </p:cNvSpPr>
          <p:nvPr/>
        </p:nvSpPr>
        <p:spPr>
          <a:xfrm>
            <a:off x="6381750" y="4010025"/>
            <a:ext cx="4762500" cy="9525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4E8090-9231-4ADC-9010-99FF5E89F74E}"/>
              </a:ext>
            </a:extLst>
          </p:cNvPr>
          <p:cNvSpPr>
            <a:spLocks noGrp="1"/>
          </p:cNvSpPr>
          <p:nvPr/>
        </p:nvSpPr>
        <p:spPr>
          <a:xfrm>
            <a:off x="6553200" y="414337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Tools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5F0FE7-B232-4A90-99A6-0BCC46D02014}"/>
              </a:ext>
            </a:extLst>
          </p:cNvPr>
          <p:cNvSpPr>
            <a:spLocks noGrp="1"/>
          </p:cNvSpPr>
          <p:nvPr/>
        </p:nvSpPr>
        <p:spPr>
          <a:xfrm>
            <a:off x="6553200" y="4467225"/>
            <a:ext cx="441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SerpApi, document loaders, future Whisper STT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A1F007-F4B9-4233-8C34-D6BE0613A546}"/>
              </a:ext>
            </a:extLst>
          </p:cNvPr>
          <p:cNvSpPr>
            <a:spLocks noGrp="1"/>
          </p:cNvSpPr>
          <p:nvPr/>
        </p:nvSpPr>
        <p:spPr>
          <a:xfrm>
            <a:off x="10001250" y="5191125"/>
            <a:ext cx="876300" cy="8763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3F8DAD-F488-406A-80A2-1417CC8DEEDB}"/>
              </a:ext>
            </a:extLst>
          </p:cNvPr>
          <p:cNvSpPr>
            <a:spLocks noGrp="1"/>
          </p:cNvSpPr>
          <p:nvPr/>
        </p:nvSpPr>
        <p:spPr>
          <a:xfrm>
            <a:off x="10229850" y="5362575"/>
            <a:ext cx="419100" cy="323850"/>
          </a:xfrm>
          <a:prstGeom prst="rect">
            <a:avLst/>
          </a:prstGeom>
          <a:solidFill>
            <a:srgbClr val="DDF5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812472-2EB3-49F2-B5CF-FF715F8438FD}"/>
              </a:ext>
            </a:extLst>
          </p:cNvPr>
          <p:cNvSpPr>
            <a:spLocks noGrp="1"/>
          </p:cNvSpPr>
          <p:nvPr/>
        </p:nvSpPr>
        <p:spPr>
          <a:xfrm>
            <a:off x="10325100" y="5724525"/>
            <a:ext cx="228600" cy="95250"/>
          </a:xfrm>
          <a:prstGeom prst="rect">
            <a:avLst/>
          </a:prstGeom>
          <a:solidFill>
            <a:srgbClr val="B7C6D8"/>
          </a:solidFill>
          <a:ln w="0">
            <a:solidFill>
              <a:srgbClr val="B7C6D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51DCB4-3C0B-42B1-9B7D-EF82B687ED68}"/>
              </a:ext>
            </a:extLst>
          </p:cNvPr>
          <p:cNvSpPr>
            <a:spLocks noGrp="1"/>
          </p:cNvSpPr>
          <p:nvPr/>
        </p:nvSpPr>
        <p:spPr>
          <a:xfrm>
            <a:off x="10248900" y="5838825"/>
            <a:ext cx="381000" cy="76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08175D-108B-46AE-97C6-D76B8FF8080E}"/>
              </a:ext>
            </a:extLst>
          </p:cNvPr>
          <p:cNvSpPr>
            <a:spLocks noGrp="1"/>
          </p:cNvSpPr>
          <p:nvPr/>
        </p:nvSpPr>
        <p:spPr>
          <a:xfrm>
            <a:off x="10048875" y="5934075"/>
            <a:ext cx="781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985512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D1AB237-07B7-452D-9079-F638754AFF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C18FD5-AD0A-4A21-8AF0-C22A3625BCEA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FEATURES /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85439-D78D-40D6-B3F9-CDFBF383648C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ECFB5-7530-4D8D-818D-C6992CB87DC3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FD7B35-6DF9-4B0B-BA27-6EACD76CF6CF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A0A1E9-1CB3-4337-87C7-715B0D3CC478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0AFB3-E0BE-4923-B9E8-FF55AC30B9B9}"/>
              </a:ext>
            </a:extLst>
          </p:cNvPr>
          <p:cNvSpPr>
            <a:spLocks noGrp="1"/>
          </p:cNvSpPr>
          <p:nvPr/>
        </p:nvSpPr>
        <p:spPr>
          <a:xfrm>
            <a:off x="781050" y="13049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96AF78-D8EB-4A2F-915B-EDDAE01429DA}"/>
              </a:ext>
            </a:extLst>
          </p:cNvPr>
          <p:cNvSpPr>
            <a:spLocks noGrp="1"/>
          </p:cNvSpPr>
          <p:nvPr/>
        </p:nvSpPr>
        <p:spPr>
          <a:xfrm>
            <a:off x="1009650" y="1257300"/>
            <a:ext cx="624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Login and registration flow connected to backend routes.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F52F6E-87DA-495C-B356-26D376B0AC06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3550B6-188A-4C21-8C6F-8713164A34B5}"/>
              </a:ext>
            </a:extLst>
          </p:cNvPr>
          <p:cNvSpPr>
            <a:spLocks noGrp="1"/>
          </p:cNvSpPr>
          <p:nvPr/>
        </p:nvSpPr>
        <p:spPr>
          <a:xfrm>
            <a:off x="1009650" y="1714500"/>
            <a:ext cx="624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Live chat interface that sends messages to FastAPI.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A9BB5B-6214-4F7D-A1D0-4B89F8245E51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36BCF4-7417-4C51-8683-5DF0D906E1F7}"/>
              </a:ext>
            </a:extLst>
          </p:cNvPr>
          <p:cNvSpPr>
            <a:spLocks noGrp="1"/>
          </p:cNvSpPr>
          <p:nvPr/>
        </p:nvSpPr>
        <p:spPr>
          <a:xfrm>
            <a:off x="1009650" y="2171700"/>
            <a:ext cx="624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Byte-Bot personality prompt with friendly, short replies.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79C122-C5C5-4E11-847A-8E7CAEA61F5B}"/>
              </a:ext>
            </a:extLst>
          </p:cNvPr>
          <p:cNvSpPr>
            <a:spLocks noGrp="1"/>
          </p:cNvSpPr>
          <p:nvPr/>
        </p:nvSpPr>
        <p:spPr>
          <a:xfrm>
            <a:off x="781050" y="26765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C43AD-7396-4901-854F-7A7D1ACCF2D8}"/>
              </a:ext>
            </a:extLst>
          </p:cNvPr>
          <p:cNvSpPr>
            <a:spLocks noGrp="1"/>
          </p:cNvSpPr>
          <p:nvPr/>
        </p:nvSpPr>
        <p:spPr>
          <a:xfrm>
            <a:off x="1009650" y="2628900"/>
            <a:ext cx="624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MongoDB memory for users and chat history.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0C2805-093D-41E0-BF4E-D97723C69DB1}"/>
              </a:ext>
            </a:extLst>
          </p:cNvPr>
          <p:cNvSpPr>
            <a:spLocks noGrp="1"/>
          </p:cNvSpPr>
          <p:nvPr/>
        </p:nvSpPr>
        <p:spPr>
          <a:xfrm>
            <a:off x="781050" y="31337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232473-1261-43B7-B410-FB8312880DAE}"/>
              </a:ext>
            </a:extLst>
          </p:cNvPr>
          <p:cNvSpPr>
            <a:spLocks noGrp="1"/>
          </p:cNvSpPr>
          <p:nvPr/>
        </p:nvSpPr>
        <p:spPr>
          <a:xfrm>
            <a:off x="1009650" y="3086100"/>
            <a:ext cx="624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Reset endpoint that clears frontend and backend memory.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F6570A-B61E-4D2A-B2B3-3A9119CD147D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29892E-C99E-4519-B98A-F2E5B86D00D9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624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Tool dock prepared for upload, web search, image search, and voice.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rcRect l="10836" r="10836"/>
          <a:stretch>
            <a:fillRect/>
          </a:stretch>
        </p:blipFill>
        <p:spPr>
          <a:xfrm>
            <a:off x="7667625" y="1428750"/>
            <a:ext cx="3143250" cy="18097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429471B-A330-479C-B83C-9E4794EF4029}"/>
              </a:ext>
            </a:extLst>
          </p:cNvPr>
          <p:cNvSpPr>
            <a:spLocks noGrp="1"/>
          </p:cNvSpPr>
          <p:nvPr/>
        </p:nvSpPr>
        <p:spPr>
          <a:xfrm>
            <a:off x="7572375" y="3762375"/>
            <a:ext cx="3429000" cy="123825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8DB2C0-E41E-49D6-8512-685223BBFA23}"/>
              </a:ext>
            </a:extLst>
          </p:cNvPr>
          <p:cNvSpPr>
            <a:spLocks noGrp="1"/>
          </p:cNvSpPr>
          <p:nvPr/>
        </p:nvSpPr>
        <p:spPr>
          <a:xfrm>
            <a:off x="7743825" y="3895725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Module 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CC11FA-0ACE-40F2-8B31-0337D7B3C1CC}"/>
              </a:ext>
            </a:extLst>
          </p:cNvPr>
          <p:cNvSpPr>
            <a:spLocks noGrp="1"/>
          </p:cNvSpPr>
          <p:nvPr/>
        </p:nvSpPr>
        <p:spPr>
          <a:xfrm>
            <a:off x="7743825" y="4219575"/>
            <a:ext cx="3086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The project is moving from a UI demo into a modular assistant: frontend, backend, auth, memory, tools, and deployment notes.</a:t>
            </a:r>
          </a:p>
        </p:txBody>
      </p:sp>
    </p:spTree>
    <p:extLst>
      <p:ext uri="{BB962C8B-B14F-4D97-AF65-F5344CB8AC3E}">
        <p14:creationId xmlns:p14="http://schemas.microsoft.com/office/powerpoint/2010/main" val="180609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D0BDF58-88B8-4E0B-BAD1-8F1F3ACC05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3A3EDA-B642-4D09-9BEF-81A354B1669C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FUTURE ENHANCEMENTS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816EE8-FF14-46F0-8B39-0832F40FCBEF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2B137-2D80-405A-9BFE-A4A7634313AC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329FD7-6FFA-4719-8EAC-166B91871DC5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1C9E38-38A0-4E8F-B494-A2676602F001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CD5BC-A2DF-4C02-80A2-1FDEEFA182E2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57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Next development 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D3B5C-51FF-4E6D-826B-AB85B9B12914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F24094-F932-4DFF-B1BF-C5510BA0655B}"/>
              </a:ext>
            </a:extLst>
          </p:cNvPr>
          <p:cNvSpPr>
            <a:spLocks noGrp="1"/>
          </p:cNvSpPr>
          <p:nvPr/>
        </p:nvSpPr>
        <p:spPr>
          <a:xfrm>
            <a:off x="1066800" y="1619250"/>
            <a:ext cx="653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Add RAG over PDF, TXT, CSV, and image notes.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A6C96-188B-4953-B696-61D6D3F78AAE}"/>
              </a:ext>
            </a:extLst>
          </p:cNvPr>
          <p:cNvSpPr>
            <a:spLocks noGrp="1"/>
          </p:cNvSpPr>
          <p:nvPr/>
        </p:nvSpPr>
        <p:spPr>
          <a:xfrm>
            <a:off x="838200" y="21050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337C52-7D3C-4720-8C65-081A358A5EF5}"/>
              </a:ext>
            </a:extLst>
          </p:cNvPr>
          <p:cNvSpPr>
            <a:spLocks noGrp="1"/>
          </p:cNvSpPr>
          <p:nvPr/>
        </p:nvSpPr>
        <p:spPr>
          <a:xfrm>
            <a:off x="1066800" y="2057400"/>
            <a:ext cx="653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Use embeddings and semantic search for better document answers.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B21BC5-E91A-4A8E-800A-7724817BBD6B}"/>
              </a:ext>
            </a:extLst>
          </p:cNvPr>
          <p:cNvSpPr>
            <a:spLocks noGrp="1"/>
          </p:cNvSpPr>
          <p:nvPr/>
        </p:nvSpPr>
        <p:spPr>
          <a:xfrm>
            <a:off x="838200" y="25431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980F91-C81E-4FEE-9165-3ACBE3F208C3}"/>
              </a:ext>
            </a:extLst>
          </p:cNvPr>
          <p:cNvSpPr>
            <a:spLocks noGrp="1"/>
          </p:cNvSpPr>
          <p:nvPr/>
        </p:nvSpPr>
        <p:spPr>
          <a:xfrm>
            <a:off x="1066800" y="2495550"/>
            <a:ext cx="653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Add speech-to-text input with Whisper or browser speech APIs.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CF6DFB-DFB6-4959-AA78-2475D5ECCB50}"/>
              </a:ext>
            </a:extLst>
          </p:cNvPr>
          <p:cNvSpPr>
            <a:spLocks noGrp="1"/>
          </p:cNvSpPr>
          <p:nvPr/>
        </p:nvSpPr>
        <p:spPr>
          <a:xfrm>
            <a:off x="838200" y="29813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8A370E-C444-442D-B410-B7CF7C0AB41A}"/>
              </a:ext>
            </a:extLst>
          </p:cNvPr>
          <p:cNvSpPr>
            <a:spLocks noGrp="1"/>
          </p:cNvSpPr>
          <p:nvPr/>
        </p:nvSpPr>
        <p:spPr>
          <a:xfrm>
            <a:off x="1066800" y="2933700"/>
            <a:ext cx="653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Add text-to-speech so Byte-Bot can speak replies.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77BE50-5016-429B-9CB8-3B1382630B18}"/>
              </a:ext>
            </a:extLst>
          </p:cNvPr>
          <p:cNvSpPr>
            <a:spLocks noGrp="1"/>
          </p:cNvSpPr>
          <p:nvPr/>
        </p:nvSpPr>
        <p:spPr>
          <a:xfrm>
            <a:off x="838200" y="34194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99E55F-B25A-4FFA-9827-604871B62096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653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Improve long-term memory and user profiles.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C3C749-BE5F-4C79-8A08-85D97C38850B}"/>
              </a:ext>
            </a:extLst>
          </p:cNvPr>
          <p:cNvSpPr>
            <a:spLocks noGrp="1"/>
          </p:cNvSpPr>
          <p:nvPr/>
        </p:nvSpPr>
        <p:spPr>
          <a:xfrm>
            <a:off x="838200" y="38576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AB31C5-D592-4BEC-97F3-26B8D326F478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653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Deploy frontend and backend with environment variables safely.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94EF11-35AB-4453-8F67-E8B90CB56BB3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2857500" cy="219075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70EABA-CB24-4760-A200-3441856F5CCA}"/>
              </a:ext>
            </a:extLst>
          </p:cNvPr>
          <p:cNvSpPr>
            <a:spLocks noGrp="1"/>
          </p:cNvSpPr>
          <p:nvPr/>
        </p:nvSpPr>
        <p:spPr>
          <a:xfrm>
            <a:off x="8267700" y="1943100"/>
            <a:ext cx="251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Roadmap Focus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B553A6-D828-432D-B893-13D9A114F345}"/>
              </a:ext>
            </a:extLst>
          </p:cNvPr>
          <p:cNvSpPr>
            <a:spLocks noGrp="1"/>
          </p:cNvSpPr>
          <p:nvPr/>
        </p:nvSpPr>
        <p:spPr>
          <a:xfrm>
            <a:off x="8267700" y="2266950"/>
            <a:ext cx="25146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Build one feature at a time: stable chat, stable memory, document search, voice, then deployment polish.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7F2415-55F2-43E3-AD15-3ED4721837FF}"/>
              </a:ext>
            </a:extLst>
          </p:cNvPr>
          <p:cNvSpPr>
            <a:spLocks noGrp="1"/>
          </p:cNvSpPr>
          <p:nvPr/>
        </p:nvSpPr>
        <p:spPr>
          <a:xfrm>
            <a:off x="9096375" y="4381500"/>
            <a:ext cx="876300" cy="8763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59C714-5602-4F7C-A1B5-2E7EA479F08A}"/>
              </a:ext>
            </a:extLst>
          </p:cNvPr>
          <p:cNvSpPr>
            <a:spLocks noGrp="1"/>
          </p:cNvSpPr>
          <p:nvPr/>
        </p:nvSpPr>
        <p:spPr>
          <a:xfrm>
            <a:off x="9324975" y="4552950"/>
            <a:ext cx="419100" cy="323850"/>
          </a:xfrm>
          <a:prstGeom prst="rect">
            <a:avLst/>
          </a:prstGeom>
          <a:solidFill>
            <a:srgbClr val="DDF5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8D5D4E-0E60-4BAD-A752-0245470A3213}"/>
              </a:ext>
            </a:extLst>
          </p:cNvPr>
          <p:cNvSpPr>
            <a:spLocks noGrp="1"/>
          </p:cNvSpPr>
          <p:nvPr/>
        </p:nvSpPr>
        <p:spPr>
          <a:xfrm>
            <a:off x="9420225" y="4914900"/>
            <a:ext cx="228600" cy="95250"/>
          </a:xfrm>
          <a:prstGeom prst="rect">
            <a:avLst/>
          </a:prstGeom>
          <a:solidFill>
            <a:srgbClr val="B7C6D8"/>
          </a:solidFill>
          <a:ln w="0">
            <a:solidFill>
              <a:srgbClr val="B7C6D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3F00DB-27EB-4A3B-8934-3D449FE421DB}"/>
              </a:ext>
            </a:extLst>
          </p:cNvPr>
          <p:cNvSpPr>
            <a:spLocks noGrp="1"/>
          </p:cNvSpPr>
          <p:nvPr/>
        </p:nvSpPr>
        <p:spPr>
          <a:xfrm>
            <a:off x="9344025" y="5029200"/>
            <a:ext cx="381000" cy="76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609435-4378-48A1-A933-477A20B542CA}"/>
              </a:ext>
            </a:extLst>
          </p:cNvPr>
          <p:cNvSpPr>
            <a:spLocks noGrp="1"/>
          </p:cNvSpPr>
          <p:nvPr/>
        </p:nvSpPr>
        <p:spPr>
          <a:xfrm>
            <a:off x="9144000" y="5124450"/>
            <a:ext cx="781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415462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E999A3A-1291-431E-8B0E-D8FD8CDEE4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98090-E4B6-4152-BA07-1F6865CFB975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2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AFC3F7-562D-4CB9-9706-0ADC4E81A64F}"/>
              </a:ext>
            </a:extLst>
          </p:cNvPr>
          <p:cNvSpPr>
            <a:spLocks noGrp="1"/>
          </p:cNvSpPr>
          <p:nvPr/>
        </p:nvSpPr>
        <p:spPr>
          <a:xfrm>
            <a:off x="11239500" y="16192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C20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C20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0BF601-5918-48A6-9D63-070EBE760049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BDAE3D-DA07-4C55-9132-77B7997DB4E6}"/>
              </a:ext>
            </a:extLst>
          </p:cNvPr>
          <p:cNvSpPr>
            <a:spLocks noGrp="1"/>
          </p:cNvSpPr>
          <p:nvPr/>
        </p:nvSpPr>
        <p:spPr>
          <a:xfrm>
            <a:off x="381000" y="66389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47790-5B5B-4BE5-9016-0601C4D062B0}"/>
              </a:ext>
            </a:extLst>
          </p:cNvPr>
          <p:cNvSpPr>
            <a:spLocks noGrp="1"/>
          </p:cNvSpPr>
          <p:nvPr/>
        </p:nvSpPr>
        <p:spPr>
          <a:xfrm>
            <a:off x="8572500" y="663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/ University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20FCB-911C-4684-83F2-11C386587788}"/>
              </a:ext>
            </a:extLst>
          </p:cNvPr>
          <p:cNvSpPr>
            <a:spLocks noGrp="1"/>
          </p:cNvSpPr>
          <p:nvPr/>
        </p:nvSpPr>
        <p:spPr>
          <a:xfrm>
            <a:off x="666750" y="10953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57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Project 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5D06A3-9C7D-4419-927B-64A44805B839}"/>
              </a:ext>
            </a:extLst>
          </p:cNvPr>
          <p:cNvSpPr>
            <a:spLocks noGrp="1"/>
          </p:cNvSpPr>
          <p:nvPr/>
        </p:nvSpPr>
        <p:spPr>
          <a:xfrm>
            <a:off x="838200" y="17621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D48DC9-85A9-4AB3-885D-45AD60AAEDD5}"/>
              </a:ext>
            </a:extLst>
          </p:cNvPr>
          <p:cNvSpPr>
            <a:spLocks noGrp="1"/>
          </p:cNvSpPr>
          <p:nvPr/>
        </p:nvSpPr>
        <p:spPr>
          <a:xfrm>
            <a:off x="1066800" y="1714500"/>
            <a:ext cx="634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Byte-Bot is a beginner-friendly AI chatbot project with a strong visual identity.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832A1B-B54B-4495-81C1-DF07B2892A2F}"/>
              </a:ext>
            </a:extLst>
          </p:cNvPr>
          <p:cNvSpPr>
            <a:spLocks noGrp="1"/>
          </p:cNvSpPr>
          <p:nvPr/>
        </p:nvSpPr>
        <p:spPr>
          <a:xfrm>
            <a:off x="838200" y="23145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1B4472-FCC3-42E6-ADD3-302641AB0748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634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The current system connects UI, backend, AI model, and MongoDB memory.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21DA93-F828-4541-BFD8-BA13742776AC}"/>
              </a:ext>
            </a:extLst>
          </p:cNvPr>
          <p:cNvSpPr>
            <a:spLocks noGrp="1"/>
          </p:cNvSpPr>
          <p:nvPr/>
        </p:nvSpPr>
        <p:spPr>
          <a:xfrm>
            <a:off x="838200" y="286702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66A7B6-A0A1-49F5-9912-9D7D34271E3C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634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The architecture is simple enough to explain and scalable enough to extend.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2FBE0E-A5D6-4A6B-ADCD-C6D18873B796}"/>
              </a:ext>
            </a:extLst>
          </p:cNvPr>
          <p:cNvSpPr>
            <a:spLocks noGrp="1"/>
          </p:cNvSpPr>
          <p:nvPr/>
        </p:nvSpPr>
        <p:spPr>
          <a:xfrm>
            <a:off x="838200" y="3419475"/>
            <a:ext cx="95250" cy="95250"/>
          </a:xfrm>
          <a:prstGeom prst="rect">
            <a:avLst/>
          </a:prstGeom>
          <a:solidFill>
            <a:srgbClr val="FFC20A"/>
          </a:solidFill>
          <a:ln w="0">
            <a:solidFill>
              <a:srgbClr val="FFC20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AE9B25-403B-488A-ADE2-3C2D82CEF03D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634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The next major milestone is local document RAG with PDF/TXT/CSV support.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E30346-E085-4EBF-96E7-77CE28FB9351}"/>
              </a:ext>
            </a:extLst>
          </p:cNvPr>
          <p:cNvSpPr>
            <a:spLocks noGrp="1"/>
          </p:cNvSpPr>
          <p:nvPr/>
        </p:nvSpPr>
        <p:spPr>
          <a:xfrm>
            <a:off x="7810500" y="1809750"/>
            <a:ext cx="3048000" cy="219075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4361AD-DDD7-40D4-8972-AF5ECE1D3E3E}"/>
              </a:ext>
            </a:extLst>
          </p:cNvPr>
          <p:cNvSpPr>
            <a:spLocks noGrp="1"/>
          </p:cNvSpPr>
          <p:nvPr/>
        </p:nvSpPr>
        <p:spPr>
          <a:xfrm>
            <a:off x="7981950" y="1943100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4E79"/>
                </a:solidFill>
                <a:latin typeface="Cambria"/>
                <a:ea typeface="Cambria"/>
                <a:cs typeface="Cambria"/>
              </a:defRPr>
            </a:pPr>
            <a:r>
              <a:rPr sz="1425" b="1">
                <a:solidFill>
                  <a:srgbClr val="1F4E79"/>
                </a:solidFill>
                <a:latin typeface="Cambria"/>
                <a:ea typeface="Cambria"/>
                <a:cs typeface="Cambria"/>
              </a:rPr>
              <a:t>Final Takeaway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1C3E7D-6A87-408A-A01B-00BD0E615B79}"/>
              </a:ext>
            </a:extLst>
          </p:cNvPr>
          <p:cNvSpPr>
            <a:spLocks noGrp="1"/>
          </p:cNvSpPr>
          <p:nvPr/>
        </p:nvSpPr>
        <p:spPr>
          <a:xfrm>
            <a:off x="7981950" y="2266950"/>
            <a:ext cx="27051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The project now has a real product foundation: a personality-rich frontend, a practical API backend, persistent memory, and a clear future roadmap.</a:t>
            </a:r>
          </a:p>
        </p:txBody>
      </p:sp>
    </p:spTree>
    <p:extLst>
      <p:ext uri="{BB962C8B-B14F-4D97-AF65-F5344CB8AC3E}">
        <p14:creationId xmlns:p14="http://schemas.microsoft.com/office/powerpoint/2010/main" val="908145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A53741-86A1-4814-94A9-1050FB9D49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44"/>
          </a:solidFill>
          <a:ln w="0">
            <a:solidFill>
              <a:srgbClr val="0A1F4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000669-927E-42D1-89A2-AF12AFA5DB9D}"/>
              </a:ext>
            </a:extLst>
          </p:cNvPr>
          <p:cNvSpPr>
            <a:spLocks noGrp="1"/>
          </p:cNvSpPr>
          <p:nvPr/>
        </p:nvSpPr>
        <p:spPr>
          <a:xfrm>
            <a:off x="0" y="2000250"/>
            <a:ext cx="1219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1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E809A-EF0B-4532-84FC-B79863B58DFD}"/>
              </a:ext>
            </a:extLst>
          </p:cNvPr>
          <p:cNvSpPr>
            <a:spLocks noGrp="1"/>
          </p:cNvSpPr>
          <p:nvPr/>
        </p:nvSpPr>
        <p:spPr>
          <a:xfrm>
            <a:off x="0" y="2905125"/>
            <a:ext cx="1219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C20A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FFC20A"/>
                </a:solidFill>
                <a:latin typeface="Cambria"/>
                <a:ea typeface="Cambria"/>
                <a:cs typeface="Cambria"/>
              </a:rPr>
              <a:t>Any Questions?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0F8345-E60D-4E59-A5F2-1E8FB8AD7035}"/>
              </a:ext>
            </a:extLst>
          </p:cNvPr>
          <p:cNvSpPr>
            <a:spLocks noGrp="1"/>
          </p:cNvSpPr>
          <p:nvPr/>
        </p:nvSpPr>
        <p:spPr>
          <a:xfrm>
            <a:off x="0" y="3762375"/>
            <a:ext cx="1219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Byte-Bot AI Chatbot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6EB22F-CCA4-4024-B2E2-21AD26E2DCA9}"/>
              </a:ext>
            </a:extLst>
          </p:cNvPr>
          <p:cNvSpPr>
            <a:spLocks noGrp="1"/>
          </p:cNvSpPr>
          <p:nvPr/>
        </p:nvSpPr>
        <p:spPr>
          <a:xfrm>
            <a:off x="5657850" y="4476750"/>
            <a:ext cx="876300" cy="876300"/>
          </a:xfrm>
          <a:prstGeom prst="rect">
            <a:avLst/>
          </a:prstGeom>
          <a:solidFill>
            <a:srgbClr val="F5F8FC"/>
          </a:solidFill>
          <a:ln w="13335">
            <a:solidFill>
              <a:srgbClr val="B7C6D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777EF1-0F47-47FE-A7BF-DBA93036D4C3}"/>
              </a:ext>
            </a:extLst>
          </p:cNvPr>
          <p:cNvSpPr>
            <a:spLocks noGrp="1"/>
          </p:cNvSpPr>
          <p:nvPr/>
        </p:nvSpPr>
        <p:spPr>
          <a:xfrm>
            <a:off x="5886450" y="4648200"/>
            <a:ext cx="419100" cy="323850"/>
          </a:xfrm>
          <a:prstGeom prst="rect">
            <a:avLst/>
          </a:prstGeom>
          <a:solidFill>
            <a:srgbClr val="DDF5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E0F049-7AB4-4E11-B40F-E741C503A0C8}"/>
              </a:ext>
            </a:extLst>
          </p:cNvPr>
          <p:cNvSpPr>
            <a:spLocks noGrp="1"/>
          </p:cNvSpPr>
          <p:nvPr/>
        </p:nvSpPr>
        <p:spPr>
          <a:xfrm>
            <a:off x="5981700" y="5010150"/>
            <a:ext cx="228600" cy="95250"/>
          </a:xfrm>
          <a:prstGeom prst="rect">
            <a:avLst/>
          </a:prstGeom>
          <a:solidFill>
            <a:srgbClr val="B7C6D8"/>
          </a:solidFill>
          <a:ln w="0">
            <a:solidFill>
              <a:srgbClr val="B7C6D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7B3721-1DFF-4E7F-AA0E-67C2179901B6}"/>
              </a:ext>
            </a:extLst>
          </p:cNvPr>
          <p:cNvSpPr>
            <a:spLocks noGrp="1"/>
          </p:cNvSpPr>
          <p:nvPr/>
        </p:nvSpPr>
        <p:spPr>
          <a:xfrm>
            <a:off x="5905500" y="5124450"/>
            <a:ext cx="381000" cy="76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57F092-35D7-49E9-A82B-5D288AF9C88E}"/>
              </a:ext>
            </a:extLst>
          </p:cNvPr>
          <p:cNvSpPr>
            <a:spLocks noGrp="1"/>
          </p:cNvSpPr>
          <p:nvPr/>
        </p:nvSpPr>
        <p:spPr>
          <a:xfrm>
            <a:off x="5705475" y="5219700"/>
            <a:ext cx="781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BYE</a:t>
            </a:r>
          </a:p>
        </p:txBody>
      </p:sp>
    </p:spTree>
    <p:extLst>
      <p:ext uri="{BB962C8B-B14F-4D97-AF65-F5344CB8AC3E}">
        <p14:creationId xmlns:p14="http://schemas.microsoft.com/office/powerpoint/2010/main" val="7986919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Office PowerPoint</Application>
  <DocSecurity>0</DocSecurity>
  <PresentationFormat>Widescreen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Cambria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dev sharma</cp:lastModifiedBy>
  <cp:revision>1</cp:revision>
  <dcterms:created xsi:type="dcterms:W3CDTF">2026-07-07T03:01:59Z</dcterms:created>
  <dcterms:modified xsi:type="dcterms:W3CDTF">2026-07-07T13:17:13Z</dcterms:modified>
</cp:coreProperties>
</file>